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06" r:id="rId2"/>
    <p:sldId id="307" r:id="rId3"/>
    <p:sldId id="305" r:id="rId4"/>
    <p:sldId id="304" r:id="rId5"/>
    <p:sldId id="299" r:id="rId6"/>
    <p:sldId id="300" r:id="rId7"/>
    <p:sldId id="296" r:id="rId8"/>
    <p:sldId id="29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C2C4"/>
    <a:srgbClr val="CAE16C"/>
    <a:srgbClr val="92DAE3"/>
    <a:srgbClr val="9FECF1"/>
    <a:srgbClr val="7FBEC0"/>
    <a:srgbClr val="FFFFFF"/>
    <a:srgbClr val="E6FF78"/>
    <a:srgbClr val="DEF875"/>
    <a:srgbClr val="252821"/>
    <a:srgbClr val="1C27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30" autoAdjust="0"/>
    <p:restoredTop sz="94687"/>
  </p:normalViewPr>
  <p:slideViewPr>
    <p:cSldViewPr snapToGrid="0">
      <p:cViewPr varScale="1">
        <p:scale>
          <a:sx n="150" d="100"/>
          <a:sy n="150" d="100"/>
        </p:scale>
        <p:origin x="48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D4F795-4516-48C9-BD51-F3FEBCEDA59D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030F7-DE00-4322-BA5D-A84EF2C55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9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>
          <a:extLst>
            <a:ext uri="{FF2B5EF4-FFF2-40B4-BE49-F238E27FC236}">
              <a16:creationId xmlns:a16="http://schemas.microsoft.com/office/drawing/2014/main" id="{9DEA7F9B-9757-9378-277C-92404556C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4ef7915606_0_117:notes">
            <a:extLst>
              <a:ext uri="{FF2B5EF4-FFF2-40B4-BE49-F238E27FC236}">
                <a16:creationId xmlns:a16="http://schemas.microsoft.com/office/drawing/2014/main" id="{2D748D16-E125-9880-C5C1-16D1314215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4ef7915606_0_117:notes">
            <a:extLst>
              <a:ext uri="{FF2B5EF4-FFF2-40B4-BE49-F238E27FC236}">
                <a16:creationId xmlns:a16="http://schemas.microsoft.com/office/drawing/2014/main" id="{4488FA52-F022-2CF4-A643-A5BEEFADA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5007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>
          <a:extLst>
            <a:ext uri="{FF2B5EF4-FFF2-40B4-BE49-F238E27FC236}">
              <a16:creationId xmlns:a16="http://schemas.microsoft.com/office/drawing/2014/main" id="{9DEA7F9B-9757-9378-277C-92404556C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4ef7915606_0_117:notes">
            <a:extLst>
              <a:ext uri="{FF2B5EF4-FFF2-40B4-BE49-F238E27FC236}">
                <a16:creationId xmlns:a16="http://schemas.microsoft.com/office/drawing/2014/main" id="{2D748D16-E125-9880-C5C1-16D1314215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4ef7915606_0_117:notes">
            <a:extLst>
              <a:ext uri="{FF2B5EF4-FFF2-40B4-BE49-F238E27FC236}">
                <a16:creationId xmlns:a16="http://schemas.microsoft.com/office/drawing/2014/main" id="{4488FA52-F022-2CF4-A643-A5BEEFADA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3217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>
          <a:extLst>
            <a:ext uri="{FF2B5EF4-FFF2-40B4-BE49-F238E27FC236}">
              <a16:creationId xmlns:a16="http://schemas.microsoft.com/office/drawing/2014/main" id="{9DEA7F9B-9757-9378-277C-92404556C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4ef7915606_0_117:notes">
            <a:extLst>
              <a:ext uri="{FF2B5EF4-FFF2-40B4-BE49-F238E27FC236}">
                <a16:creationId xmlns:a16="http://schemas.microsoft.com/office/drawing/2014/main" id="{2D748D16-E125-9880-C5C1-16D1314215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4ef7915606_0_117:notes">
            <a:extLst>
              <a:ext uri="{FF2B5EF4-FFF2-40B4-BE49-F238E27FC236}">
                <a16:creationId xmlns:a16="http://schemas.microsoft.com/office/drawing/2014/main" id="{4488FA52-F022-2CF4-A643-A5BEEFADA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974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>
          <a:extLst>
            <a:ext uri="{FF2B5EF4-FFF2-40B4-BE49-F238E27FC236}">
              <a16:creationId xmlns:a16="http://schemas.microsoft.com/office/drawing/2014/main" id="{402675E7-64C4-C730-C33D-2613D317A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4ef7915606_0_117:notes">
            <a:extLst>
              <a:ext uri="{FF2B5EF4-FFF2-40B4-BE49-F238E27FC236}">
                <a16:creationId xmlns:a16="http://schemas.microsoft.com/office/drawing/2014/main" id="{A332D34C-0C5E-962E-BFE8-20AB4626F5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4ef7915606_0_117:notes">
            <a:extLst>
              <a:ext uri="{FF2B5EF4-FFF2-40B4-BE49-F238E27FC236}">
                <a16:creationId xmlns:a16="http://schemas.microsoft.com/office/drawing/2014/main" id="{4226B1A1-A419-B9FD-5260-7530112ADD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1538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>
          <a:extLst>
            <a:ext uri="{FF2B5EF4-FFF2-40B4-BE49-F238E27FC236}">
              <a16:creationId xmlns:a16="http://schemas.microsoft.com/office/drawing/2014/main" id="{BAD4FC31-6518-2095-B51B-5EB7A06D0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4ef7915606_0_117:notes">
            <a:extLst>
              <a:ext uri="{FF2B5EF4-FFF2-40B4-BE49-F238E27FC236}">
                <a16:creationId xmlns:a16="http://schemas.microsoft.com/office/drawing/2014/main" id="{C44D118E-452E-A859-EB55-FDA58751C6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4ef7915606_0_117:notes">
            <a:extLst>
              <a:ext uri="{FF2B5EF4-FFF2-40B4-BE49-F238E27FC236}">
                <a16:creationId xmlns:a16="http://schemas.microsoft.com/office/drawing/2014/main" id="{C6A70D8A-F1D6-57CF-F088-D506C17AB0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8182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>
          <a:extLst>
            <a:ext uri="{FF2B5EF4-FFF2-40B4-BE49-F238E27FC236}">
              <a16:creationId xmlns:a16="http://schemas.microsoft.com/office/drawing/2014/main" id="{BAD4FC31-6518-2095-B51B-5EB7A06D0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4ef7915606_0_117:notes">
            <a:extLst>
              <a:ext uri="{FF2B5EF4-FFF2-40B4-BE49-F238E27FC236}">
                <a16:creationId xmlns:a16="http://schemas.microsoft.com/office/drawing/2014/main" id="{C44D118E-452E-A859-EB55-FDA58751C6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4ef7915606_0_117:notes">
            <a:extLst>
              <a:ext uri="{FF2B5EF4-FFF2-40B4-BE49-F238E27FC236}">
                <a16:creationId xmlns:a16="http://schemas.microsoft.com/office/drawing/2014/main" id="{C6A70D8A-F1D6-57CF-F088-D506C17AB0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90886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>
          <a:extLst>
            <a:ext uri="{FF2B5EF4-FFF2-40B4-BE49-F238E27FC236}">
              <a16:creationId xmlns:a16="http://schemas.microsoft.com/office/drawing/2014/main" id="{B3EF9237-1EB4-885D-2EBD-721FC9310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4ef7915606_0_117:notes">
            <a:extLst>
              <a:ext uri="{FF2B5EF4-FFF2-40B4-BE49-F238E27FC236}">
                <a16:creationId xmlns:a16="http://schemas.microsoft.com/office/drawing/2014/main" id="{B0BFEE54-3201-9250-2A63-6FCD2A0D9F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4ef7915606_0_117:notes">
            <a:extLst>
              <a:ext uri="{FF2B5EF4-FFF2-40B4-BE49-F238E27FC236}">
                <a16:creationId xmlns:a16="http://schemas.microsoft.com/office/drawing/2014/main" id="{E526AFDD-34E7-4BD2-036B-AA4E993610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55671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>
          <a:extLst>
            <a:ext uri="{FF2B5EF4-FFF2-40B4-BE49-F238E27FC236}">
              <a16:creationId xmlns:a16="http://schemas.microsoft.com/office/drawing/2014/main" id="{53A31BE9-A112-037E-B2DC-40C38C1F1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4ef7915606_0_117:notes">
            <a:extLst>
              <a:ext uri="{FF2B5EF4-FFF2-40B4-BE49-F238E27FC236}">
                <a16:creationId xmlns:a16="http://schemas.microsoft.com/office/drawing/2014/main" id="{F9F54E21-44D5-3593-6A31-2B402D34EE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4ef7915606_0_117:notes">
            <a:extLst>
              <a:ext uri="{FF2B5EF4-FFF2-40B4-BE49-F238E27FC236}">
                <a16:creationId xmlns:a16="http://schemas.microsoft.com/office/drawing/2014/main" id="{F15FD889-DC13-5D03-A9E8-5E6733069B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8201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15EA9-BBF6-3B63-354D-71279DB5B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2E1319-D457-B4D2-DD8D-D4F0A8961D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A748F-12F8-4D97-423D-E17AF1EE3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0D232-2A0D-435C-9000-4A67594DD2E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93BD8-406C-180E-8CC1-BBE3A772D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41AC2-BC4C-293F-4073-9E25737C7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BEB7A-6820-44E6-A675-69AC8FFA4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32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8D9BA-9170-8C56-BE23-68832504C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F78B9-B0B0-C1DF-A87D-AECA8BA0B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76078-9BAF-6422-5A16-039505B53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0D232-2A0D-435C-9000-4A67594DD2E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7DC1D-34F3-D75D-472B-C9DFE0EB1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FDA04-902E-E5A0-481F-10E6BCF4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BEB7A-6820-44E6-A675-69AC8FFA4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29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1B20-588E-8F87-E0E7-6BC67407E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DBA99-E624-CBD7-3557-9E2AC9853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35FD3-5E46-49C5-A56F-621B8C3D5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0D232-2A0D-435C-9000-4A67594DD2E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9A1C0-8612-809B-C1EA-09F3F459F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77689-478E-C798-EB9C-39FE9B821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BEB7A-6820-44E6-A675-69AC8FFA4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394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C47C4-75A4-A13A-DFA2-00CA538AE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5D57D-B6E5-BEB3-0AFD-D663957D7D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610B-78DE-07C4-E1E4-FE45F09FB0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C7C065-C863-08F9-5BFC-D3369BDE3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0D232-2A0D-435C-9000-4A67594DD2E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D1003-07BA-6485-4FA0-5BDC1DD8F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04DF7-01B3-554E-7227-0C35FACA7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BEB7A-6820-44E6-A675-69AC8FFA4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86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C6334-4B38-3D39-0B2A-F0BD14459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1528C-DE1B-3CA8-7CD0-383FB9841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E2078D-F7F6-3CF6-14F4-A9B6266FD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3596A-FF86-5ADA-6FA8-87B2A500B3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2AAED4-BA0F-39F4-7280-242A064635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B3DA75-DBDC-ADBE-DFF7-4F76C9FC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0D232-2A0D-435C-9000-4A67594DD2E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AD5E22-D144-3302-0F1B-55EDC424E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B9D916-C931-1E1A-3B5C-FD539FD2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BEB7A-6820-44E6-A675-69AC8FFA4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7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D603C-9B4A-5239-BE55-264A30DE6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2F45F1-3B75-6E5C-2D74-96CB25A91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0D232-2A0D-435C-9000-4A67594DD2E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A1DF7-76EF-11DA-0EF9-22F9977D2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674E46-7545-9D52-64DD-2027CB4E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BEB7A-6820-44E6-A675-69AC8FFA4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05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ECDDEC-865F-5BF6-C5FE-6A7A29501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0D232-2A0D-435C-9000-4A67594DD2E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D292B2-1991-C440-3C21-66E93F283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A45C9-3DD2-31DF-CDFA-01842D964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BEB7A-6820-44E6-A675-69AC8FFA4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7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B723B-ED5A-5250-F7B4-E92873780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E8A2-9F4C-61AE-C7AB-4069795E2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26B1A9-D19D-5592-522F-2397B2B67B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AB496-45A4-F817-CC4D-5D5400E30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0D232-2A0D-435C-9000-4A67594DD2E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346BC-D071-9FBB-E2CB-E608BC55F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B2772-B7EA-CA27-90BF-45B491754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BEB7A-6820-44E6-A675-69AC8FFA4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505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B5E27-B9EC-57BE-78F1-ABB1C11EC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583F64-BC42-5030-8CB2-B6CED025CF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8F55F6-DAFD-63AB-0555-60DCA4571A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129FB-FDBE-6DE0-B533-B7308DADA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0D232-2A0D-435C-9000-4A67594DD2E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6090F-895E-4D84-78C8-DF65BE6D8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8579D-8721-2357-D178-8E2173080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BEB7A-6820-44E6-A675-69AC8FFA4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56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5CB75-7D02-6B11-C6B8-5C05E421B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085B43-E35C-D13D-139F-088B72A94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7FD68-E1CC-8571-EBFC-179AC93C0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0D232-2A0D-435C-9000-4A67594DD2E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134E3-3A6A-9800-640A-67CFBCA6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3E606-3279-8B67-B6D8-704513425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BEB7A-6820-44E6-A675-69AC8FFA4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32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3EBAA0-F411-E385-6997-B805088D10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D8119-6BC9-90F3-228C-06E575C16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55184-0217-1F87-5CC1-7E3B566DE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0D232-2A0D-435C-9000-4A67594DD2E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A8253-960C-C5D5-B9BE-C554D5249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C6840-38F1-8DE4-72BC-4463B0314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BEB7A-6820-44E6-A675-69AC8FFA4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209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609600" y="609600"/>
            <a:ext cx="8124000" cy="609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609600" y="1536633"/>
            <a:ext cx="10972800" cy="44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155600" y="5954500"/>
            <a:ext cx="731600" cy="609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46743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7E38B8-A62E-4AC3-4380-048A79794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FC0E2-7AE2-C852-B4D3-7EF86B29F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FF0C2-9787-B75C-1AB2-11384894CF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D0D232-2A0D-435C-9000-4A67594DD2E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5BE71-B424-79AC-5A18-910AC64A04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224F-C617-47FA-8240-9367E1895D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BEB7A-6820-44E6-A675-69AC8FFA4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11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821"/>
        </a:solidFill>
        <a:effectLst/>
      </p:bgPr>
    </p:bg>
    <p:spTree>
      <p:nvGrpSpPr>
        <p:cNvPr id="1" name="Shape 316">
          <a:extLst>
            <a:ext uri="{FF2B5EF4-FFF2-40B4-BE49-F238E27FC236}">
              <a16:creationId xmlns:a16="http://schemas.microsoft.com/office/drawing/2014/main" id="{27EDF7EC-4C2B-DE96-96D4-980C64A21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19;p38">
            <a:extLst>
              <a:ext uri="{FF2B5EF4-FFF2-40B4-BE49-F238E27FC236}">
                <a16:creationId xmlns:a16="http://schemas.microsoft.com/office/drawing/2014/main" id="{A646EE7A-A9B8-54FD-8046-87A3E0FFAE13}"/>
              </a:ext>
            </a:extLst>
          </p:cNvPr>
          <p:cNvSpPr/>
          <p:nvPr/>
        </p:nvSpPr>
        <p:spPr>
          <a:xfrm>
            <a:off x="557820" y="1193166"/>
            <a:ext cx="3772351" cy="4201563"/>
          </a:xfrm>
          <a:prstGeom prst="roundRect">
            <a:avLst>
              <a:gd name="adj" fmla="val 5675"/>
            </a:avLst>
          </a:prstGeom>
          <a:solidFill>
            <a:srgbClr val="1C2726"/>
          </a:solidFill>
          <a:ln w="28575" cap="flat" cmpd="sng">
            <a:solidFill>
              <a:srgbClr val="9FECF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6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314FE1-7489-95DD-03F9-B5468971A9B6}"/>
              </a:ext>
            </a:extLst>
          </p:cNvPr>
          <p:cNvSpPr txBox="1"/>
          <p:nvPr/>
        </p:nvSpPr>
        <p:spPr>
          <a:xfrm>
            <a:off x="1412867" y="1509517"/>
            <a:ext cx="21654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Postgres</a:t>
            </a:r>
          </a:p>
        </p:txBody>
      </p:sp>
      <p:sp>
        <p:nvSpPr>
          <p:cNvPr id="10" name="Google Shape;319;p38">
            <a:extLst>
              <a:ext uri="{FF2B5EF4-FFF2-40B4-BE49-F238E27FC236}">
                <a16:creationId xmlns:a16="http://schemas.microsoft.com/office/drawing/2014/main" id="{DE119F1E-19CF-0199-377C-AD8E95118262}"/>
              </a:ext>
            </a:extLst>
          </p:cNvPr>
          <p:cNvSpPr/>
          <p:nvPr/>
        </p:nvSpPr>
        <p:spPr>
          <a:xfrm>
            <a:off x="752576" y="2303031"/>
            <a:ext cx="3418929" cy="2505748"/>
          </a:xfrm>
          <a:prstGeom prst="roundRect">
            <a:avLst>
              <a:gd name="adj" fmla="val 6249"/>
            </a:avLst>
          </a:prstGeom>
          <a:solidFill>
            <a:srgbClr val="81C2C4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t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DBOS System Database</a:t>
            </a:r>
            <a:endParaRPr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8" name="Google Shape;320;p38">
            <a:extLst>
              <a:ext uri="{FF2B5EF4-FFF2-40B4-BE49-F238E27FC236}">
                <a16:creationId xmlns:a16="http://schemas.microsoft.com/office/drawing/2014/main" id="{E1FE4414-27C3-1249-F03F-EB4E6ACFF483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4330171" y="3082196"/>
            <a:ext cx="966034" cy="0"/>
          </a:xfrm>
          <a:prstGeom prst="straightConnector1">
            <a:avLst/>
          </a:prstGeom>
          <a:noFill/>
          <a:ln w="19050" cap="flat" cmpd="sng">
            <a:solidFill>
              <a:srgbClr val="9FECF1"/>
            </a:solidFill>
            <a:prstDash val="solid"/>
            <a:miter lim="800000"/>
            <a:headEnd type="stealth" w="med" len="med"/>
            <a:tailEnd type="stealth" w="med" len="med"/>
          </a:ln>
        </p:spPr>
      </p:cxnSp>
      <p:cxnSp>
        <p:nvCxnSpPr>
          <p:cNvPr id="60" name="Google Shape;320;p38">
            <a:extLst>
              <a:ext uri="{FF2B5EF4-FFF2-40B4-BE49-F238E27FC236}">
                <a16:creationId xmlns:a16="http://schemas.microsoft.com/office/drawing/2014/main" id="{853848A1-3F68-A82C-4B9B-F3236D35ACB7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4330171" y="1674157"/>
            <a:ext cx="971189" cy="0"/>
          </a:xfrm>
          <a:prstGeom prst="straightConnector1">
            <a:avLst/>
          </a:prstGeom>
          <a:noFill/>
          <a:ln w="19050" cap="flat" cmpd="sng">
            <a:solidFill>
              <a:srgbClr val="9FECF1"/>
            </a:solidFill>
            <a:prstDash val="solid"/>
            <a:miter lim="800000"/>
            <a:headEnd type="stealth" w="med" len="med"/>
            <a:tailEnd type="stealth" w="med" len="med"/>
          </a:ln>
        </p:spPr>
      </p:cxnSp>
      <p:cxnSp>
        <p:nvCxnSpPr>
          <p:cNvPr id="63" name="Google Shape;320;p38">
            <a:extLst>
              <a:ext uri="{FF2B5EF4-FFF2-40B4-BE49-F238E27FC236}">
                <a16:creationId xmlns:a16="http://schemas.microsoft.com/office/drawing/2014/main" id="{837D151B-C7BD-A61E-B94B-AEA18A608335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4330171" y="4788709"/>
            <a:ext cx="963457" cy="0"/>
          </a:xfrm>
          <a:prstGeom prst="straightConnector1">
            <a:avLst/>
          </a:prstGeom>
          <a:noFill/>
          <a:ln w="19050" cap="flat" cmpd="sng">
            <a:solidFill>
              <a:srgbClr val="9FECF1"/>
            </a:solidFill>
            <a:prstDash val="solid"/>
            <a:miter lim="800000"/>
            <a:headEnd type="stealth" w="med" len="med"/>
            <a:tailEnd type="stealth" w="med" len="med"/>
          </a:ln>
        </p:spPr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B7518C7E-16CB-68DF-F7C6-7A2F0542B772}"/>
              </a:ext>
            </a:extLst>
          </p:cNvPr>
          <p:cNvGrpSpPr/>
          <p:nvPr/>
        </p:nvGrpSpPr>
        <p:grpSpPr>
          <a:xfrm>
            <a:off x="5296205" y="2601205"/>
            <a:ext cx="2720421" cy="1087014"/>
            <a:chOff x="8345470" y="3316756"/>
            <a:chExt cx="3427691" cy="1087014"/>
          </a:xfrm>
        </p:grpSpPr>
        <p:sp>
          <p:nvSpPr>
            <p:cNvPr id="3" name="Google Shape;319;p38">
              <a:extLst>
                <a:ext uri="{FF2B5EF4-FFF2-40B4-BE49-F238E27FC236}">
                  <a16:creationId xmlns:a16="http://schemas.microsoft.com/office/drawing/2014/main" id="{DE7918AC-56B1-40FD-989E-99A4961CBEC4}"/>
                </a:ext>
              </a:extLst>
            </p:cNvPr>
            <p:cNvSpPr/>
            <p:nvPr/>
          </p:nvSpPr>
          <p:spPr>
            <a:xfrm>
              <a:off x="8350625" y="3316756"/>
              <a:ext cx="3422536" cy="1087014"/>
            </a:xfrm>
            <a:prstGeom prst="roundRect">
              <a:avLst>
                <a:gd name="adj" fmla="val 16667"/>
              </a:avLst>
            </a:prstGeom>
            <a:solidFill>
              <a:srgbClr val="1C2726"/>
            </a:solidFill>
            <a:ln w="28575" cap="flat" cmpd="sng">
              <a:solidFill>
                <a:srgbClr val="9FECF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endParaRPr sz="2000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64C9B10-31AB-22F3-8E88-4FC2EFFC0FD0}"/>
                </a:ext>
              </a:extLst>
            </p:cNvPr>
            <p:cNvSpPr txBox="1"/>
            <p:nvPr/>
          </p:nvSpPr>
          <p:spPr>
            <a:xfrm>
              <a:off x="8345470" y="3474581"/>
              <a:ext cx="34139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Helvetica" panose="020B0604020202020204"/>
                  <a:cs typeface="Helvetica" panose="020B0604020202020204"/>
                </a:rPr>
                <a:t>Application Process 2</a:t>
              </a:r>
            </a:p>
            <a:p>
              <a:pPr algn="ctr"/>
              <a:endPara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13" name="Google Shape;319;p38">
              <a:extLst>
                <a:ext uri="{FF2B5EF4-FFF2-40B4-BE49-F238E27FC236}">
                  <a16:creationId xmlns:a16="http://schemas.microsoft.com/office/drawing/2014/main" id="{FB72DE32-AABC-CF96-7A7B-F51AE22EBD7D}"/>
                </a:ext>
              </a:extLst>
            </p:cNvPr>
            <p:cNvSpPr/>
            <p:nvPr/>
          </p:nvSpPr>
          <p:spPr>
            <a:xfrm>
              <a:off x="8656760" y="3963742"/>
              <a:ext cx="2861465" cy="331050"/>
            </a:xfrm>
            <a:prstGeom prst="roundRect">
              <a:avLst>
                <a:gd name="adj" fmla="val 16667"/>
              </a:avLst>
            </a:prstGeom>
            <a:solidFill>
              <a:srgbClr val="E6FF78"/>
            </a:solidFill>
            <a:ln w="28575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r>
                <a:rPr lang="en-US" sz="1600" dirty="0">
                  <a:latin typeface="Helvetica" panose="020B0604020202020204"/>
                  <a:cs typeface="Helvetica" panose="020B0604020202020204"/>
                </a:rPr>
                <a:t>DBOS Library</a:t>
              </a:r>
              <a:endParaRPr sz="1600" dirty="0">
                <a:latin typeface="Helvetica" panose="020B0604020202020204"/>
                <a:cs typeface="Helvetica" panose="020B0604020202020204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9651881-608E-8B2D-7219-944CF1D2543A}"/>
              </a:ext>
            </a:extLst>
          </p:cNvPr>
          <p:cNvGrpSpPr/>
          <p:nvPr/>
        </p:nvGrpSpPr>
        <p:grpSpPr>
          <a:xfrm>
            <a:off x="5293628" y="4307718"/>
            <a:ext cx="2720421" cy="1087014"/>
            <a:chOff x="8345470" y="3316756"/>
            <a:chExt cx="3427691" cy="1087014"/>
          </a:xfrm>
        </p:grpSpPr>
        <p:sp>
          <p:nvSpPr>
            <p:cNvPr id="15" name="Google Shape;319;p38">
              <a:extLst>
                <a:ext uri="{FF2B5EF4-FFF2-40B4-BE49-F238E27FC236}">
                  <a16:creationId xmlns:a16="http://schemas.microsoft.com/office/drawing/2014/main" id="{A0DAD9D2-3D1C-D538-C655-7F8CF917DED7}"/>
                </a:ext>
              </a:extLst>
            </p:cNvPr>
            <p:cNvSpPr/>
            <p:nvPr/>
          </p:nvSpPr>
          <p:spPr>
            <a:xfrm>
              <a:off x="8350625" y="3316756"/>
              <a:ext cx="3422536" cy="1087014"/>
            </a:xfrm>
            <a:prstGeom prst="roundRect">
              <a:avLst>
                <a:gd name="adj" fmla="val 16667"/>
              </a:avLst>
            </a:prstGeom>
            <a:solidFill>
              <a:srgbClr val="1C2726"/>
            </a:solidFill>
            <a:ln w="28575" cap="flat" cmpd="sng">
              <a:solidFill>
                <a:srgbClr val="9FECF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endParaRPr sz="2000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7AB4D70-FE89-98ED-B3B3-DECCDE1C2468}"/>
                </a:ext>
              </a:extLst>
            </p:cNvPr>
            <p:cNvSpPr txBox="1"/>
            <p:nvPr/>
          </p:nvSpPr>
          <p:spPr>
            <a:xfrm>
              <a:off x="8345470" y="3474581"/>
              <a:ext cx="34139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Helvetica" panose="020B0604020202020204"/>
                  <a:cs typeface="Helvetica" panose="020B0604020202020204"/>
                </a:rPr>
                <a:t>Application Process N</a:t>
              </a:r>
            </a:p>
            <a:p>
              <a:pPr algn="ctr"/>
              <a:endPara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17" name="Google Shape;319;p38">
              <a:extLst>
                <a:ext uri="{FF2B5EF4-FFF2-40B4-BE49-F238E27FC236}">
                  <a16:creationId xmlns:a16="http://schemas.microsoft.com/office/drawing/2014/main" id="{660A7DA4-C48A-3FE3-2002-DE6AA32FB581}"/>
                </a:ext>
              </a:extLst>
            </p:cNvPr>
            <p:cNvSpPr/>
            <p:nvPr/>
          </p:nvSpPr>
          <p:spPr>
            <a:xfrm>
              <a:off x="8656760" y="3963742"/>
              <a:ext cx="2861465" cy="331050"/>
            </a:xfrm>
            <a:prstGeom prst="roundRect">
              <a:avLst>
                <a:gd name="adj" fmla="val 16667"/>
              </a:avLst>
            </a:prstGeom>
            <a:solidFill>
              <a:srgbClr val="E6FF78"/>
            </a:solidFill>
            <a:ln w="28575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r>
                <a:rPr lang="en-US" sz="1600" dirty="0">
                  <a:latin typeface="Helvetica" panose="020B0604020202020204"/>
                  <a:cs typeface="Helvetica" panose="020B0604020202020204"/>
                </a:rPr>
                <a:t>DBOS Library</a:t>
              </a:r>
              <a:endParaRPr sz="1600" dirty="0">
                <a:latin typeface="Helvetica" panose="020B0604020202020204"/>
                <a:cs typeface="Helvetica" panose="020B0604020202020204"/>
              </a:endParaRPr>
            </a:p>
          </p:txBody>
        </p:sp>
      </p:grpSp>
      <p:sp>
        <p:nvSpPr>
          <p:cNvPr id="23" name="Google Shape;319;p38">
            <a:extLst>
              <a:ext uri="{FF2B5EF4-FFF2-40B4-BE49-F238E27FC236}">
                <a16:creationId xmlns:a16="http://schemas.microsoft.com/office/drawing/2014/main" id="{3FAB2D7F-4450-CE5D-1F06-AC5C14E925AF}"/>
              </a:ext>
            </a:extLst>
          </p:cNvPr>
          <p:cNvSpPr/>
          <p:nvPr/>
        </p:nvSpPr>
        <p:spPr>
          <a:xfrm>
            <a:off x="2495595" y="2828125"/>
            <a:ext cx="1601790" cy="637329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Step Checkpoints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9ACA885E-A86B-1BBD-709E-E833F71C1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150" y="1344406"/>
            <a:ext cx="642671" cy="66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Google Shape;319;p38">
            <a:extLst>
              <a:ext uri="{FF2B5EF4-FFF2-40B4-BE49-F238E27FC236}">
                <a16:creationId xmlns:a16="http://schemas.microsoft.com/office/drawing/2014/main" id="{F8FAEF34-3439-381F-FF0F-0750362CB4E9}"/>
              </a:ext>
            </a:extLst>
          </p:cNvPr>
          <p:cNvSpPr/>
          <p:nvPr/>
        </p:nvSpPr>
        <p:spPr>
          <a:xfrm>
            <a:off x="812490" y="2828126"/>
            <a:ext cx="1601791" cy="637330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Workflow Checkpoints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5" name="Google Shape;319;p38">
            <a:extLst>
              <a:ext uri="{FF2B5EF4-FFF2-40B4-BE49-F238E27FC236}">
                <a16:creationId xmlns:a16="http://schemas.microsoft.com/office/drawing/2014/main" id="{090EBA8A-5FD2-9A48-7E8B-6C3DCAD7F1F6}"/>
              </a:ext>
            </a:extLst>
          </p:cNvPr>
          <p:cNvSpPr/>
          <p:nvPr/>
        </p:nvSpPr>
        <p:spPr>
          <a:xfrm>
            <a:off x="812490" y="3571847"/>
            <a:ext cx="1601791" cy="417944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Schedules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6" name="Google Shape;319;p38">
            <a:extLst>
              <a:ext uri="{FF2B5EF4-FFF2-40B4-BE49-F238E27FC236}">
                <a16:creationId xmlns:a16="http://schemas.microsoft.com/office/drawing/2014/main" id="{5C8BF486-41AC-B5E9-1F9F-BED2A0ECEAED}"/>
              </a:ext>
            </a:extLst>
          </p:cNvPr>
          <p:cNvSpPr/>
          <p:nvPr/>
        </p:nvSpPr>
        <p:spPr>
          <a:xfrm>
            <a:off x="2495786" y="3571847"/>
            <a:ext cx="1601791" cy="417944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Queues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7" name="Google Shape;319;p38">
            <a:extLst>
              <a:ext uri="{FF2B5EF4-FFF2-40B4-BE49-F238E27FC236}">
                <a16:creationId xmlns:a16="http://schemas.microsoft.com/office/drawing/2014/main" id="{5F41EAA4-7130-245C-7445-917AF596EF82}"/>
              </a:ext>
            </a:extLst>
          </p:cNvPr>
          <p:cNvSpPr/>
          <p:nvPr/>
        </p:nvSpPr>
        <p:spPr>
          <a:xfrm>
            <a:off x="812490" y="4096700"/>
            <a:ext cx="1601791" cy="417944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Messaging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40" name="Google Shape;319;p38">
            <a:extLst>
              <a:ext uri="{FF2B5EF4-FFF2-40B4-BE49-F238E27FC236}">
                <a16:creationId xmlns:a16="http://schemas.microsoft.com/office/drawing/2014/main" id="{C9394EFF-BFAC-444A-26F0-97EC085E7BF7}"/>
              </a:ext>
            </a:extLst>
          </p:cNvPr>
          <p:cNvSpPr/>
          <p:nvPr/>
        </p:nvSpPr>
        <p:spPr>
          <a:xfrm>
            <a:off x="2495594" y="4098642"/>
            <a:ext cx="1601791" cy="416392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Versions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452C9BB-70C5-9C13-AA41-B3679E02D150}"/>
              </a:ext>
            </a:extLst>
          </p:cNvPr>
          <p:cNvSpPr txBox="1"/>
          <p:nvPr/>
        </p:nvSpPr>
        <p:spPr>
          <a:xfrm rot="5400000">
            <a:off x="6478077" y="3712792"/>
            <a:ext cx="51167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…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711F514-0349-4DF9-DDD7-9CEF7E29FEDC}"/>
              </a:ext>
            </a:extLst>
          </p:cNvPr>
          <p:cNvGrpSpPr/>
          <p:nvPr/>
        </p:nvGrpSpPr>
        <p:grpSpPr>
          <a:xfrm>
            <a:off x="5301360" y="1193166"/>
            <a:ext cx="2720421" cy="1087014"/>
            <a:chOff x="8345470" y="3316756"/>
            <a:chExt cx="3427691" cy="1087014"/>
          </a:xfrm>
        </p:grpSpPr>
        <p:sp>
          <p:nvSpPr>
            <p:cNvPr id="7" name="Google Shape;319;p38">
              <a:extLst>
                <a:ext uri="{FF2B5EF4-FFF2-40B4-BE49-F238E27FC236}">
                  <a16:creationId xmlns:a16="http://schemas.microsoft.com/office/drawing/2014/main" id="{A6F1E6C9-6F78-77F0-29FD-5BB9E4145F95}"/>
                </a:ext>
              </a:extLst>
            </p:cNvPr>
            <p:cNvSpPr/>
            <p:nvPr/>
          </p:nvSpPr>
          <p:spPr>
            <a:xfrm>
              <a:off x="8350625" y="3316756"/>
              <a:ext cx="3422536" cy="1087014"/>
            </a:xfrm>
            <a:prstGeom prst="roundRect">
              <a:avLst>
                <a:gd name="adj" fmla="val 16667"/>
              </a:avLst>
            </a:prstGeom>
            <a:solidFill>
              <a:srgbClr val="1C2726"/>
            </a:solidFill>
            <a:ln w="28575" cap="flat" cmpd="sng">
              <a:solidFill>
                <a:srgbClr val="9FECF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endParaRPr sz="2000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56B022C-31D3-C071-D6AB-66E8E768FF21}"/>
                </a:ext>
              </a:extLst>
            </p:cNvPr>
            <p:cNvSpPr txBox="1"/>
            <p:nvPr/>
          </p:nvSpPr>
          <p:spPr>
            <a:xfrm>
              <a:off x="8345470" y="3474581"/>
              <a:ext cx="34139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Helvetica" panose="020B0604020202020204"/>
                  <a:cs typeface="Helvetica" panose="020B0604020202020204"/>
                </a:rPr>
                <a:t>Application Process 1</a:t>
              </a:r>
            </a:p>
            <a:p>
              <a:pPr algn="ctr"/>
              <a:endPara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9" name="Google Shape;319;p38">
              <a:extLst>
                <a:ext uri="{FF2B5EF4-FFF2-40B4-BE49-F238E27FC236}">
                  <a16:creationId xmlns:a16="http://schemas.microsoft.com/office/drawing/2014/main" id="{070A9109-BEB5-0001-B9F7-F6EECEC26726}"/>
                </a:ext>
              </a:extLst>
            </p:cNvPr>
            <p:cNvSpPr/>
            <p:nvPr/>
          </p:nvSpPr>
          <p:spPr>
            <a:xfrm>
              <a:off x="8656760" y="3963742"/>
              <a:ext cx="2861465" cy="331050"/>
            </a:xfrm>
            <a:prstGeom prst="roundRect">
              <a:avLst>
                <a:gd name="adj" fmla="val 16667"/>
              </a:avLst>
            </a:prstGeom>
            <a:solidFill>
              <a:srgbClr val="E6FF78"/>
            </a:solidFill>
            <a:ln w="28575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r>
                <a:rPr lang="en-US" sz="1600" dirty="0">
                  <a:latin typeface="Helvetica" panose="020B0604020202020204"/>
                  <a:cs typeface="Helvetica" panose="020B0604020202020204"/>
                </a:rPr>
                <a:t>DBOS Library</a:t>
              </a:r>
              <a:endParaRPr sz="1600" dirty="0">
                <a:latin typeface="Helvetica" panose="020B0604020202020204"/>
                <a:cs typeface="Helvetica" panose="020B0604020202020204"/>
              </a:endParaRPr>
            </a:p>
          </p:txBody>
        </p:sp>
      </p:grpSp>
      <p:sp>
        <p:nvSpPr>
          <p:cNvPr id="22" name="Google Shape;319;p38">
            <a:extLst>
              <a:ext uri="{FF2B5EF4-FFF2-40B4-BE49-F238E27FC236}">
                <a16:creationId xmlns:a16="http://schemas.microsoft.com/office/drawing/2014/main" id="{50480093-5056-9939-1C1D-EF136062C652}"/>
              </a:ext>
            </a:extLst>
          </p:cNvPr>
          <p:cNvSpPr/>
          <p:nvPr/>
        </p:nvSpPr>
        <p:spPr>
          <a:xfrm>
            <a:off x="8952073" y="2157347"/>
            <a:ext cx="2716330" cy="2136516"/>
          </a:xfrm>
          <a:prstGeom prst="roundRect">
            <a:avLst>
              <a:gd name="adj" fmla="val 8506"/>
            </a:avLst>
          </a:prstGeom>
          <a:solidFill>
            <a:srgbClr val="1C2726"/>
          </a:solidFill>
          <a:ln w="28575" cap="flat" cmpd="sng">
            <a:solidFill>
              <a:srgbClr val="9FECF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i="1" dirty="0">
              <a:solidFill>
                <a:srgbClr val="9FECF1"/>
              </a:solidFill>
              <a:latin typeface="Helvetica" panose="020B0604020202020204"/>
              <a:cs typeface="Helvetica" panose="020B0604020202020204"/>
            </a:endParaRPr>
          </a:p>
        </p:txBody>
      </p:sp>
      <p:cxnSp>
        <p:nvCxnSpPr>
          <p:cNvPr id="24" name="Google Shape;320;p38">
            <a:extLst>
              <a:ext uri="{FF2B5EF4-FFF2-40B4-BE49-F238E27FC236}">
                <a16:creationId xmlns:a16="http://schemas.microsoft.com/office/drawing/2014/main" id="{FD4B1D7C-FD26-1E94-4E35-EDF1F70EDB2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021781" y="1736673"/>
            <a:ext cx="900405" cy="566358"/>
          </a:xfrm>
          <a:prstGeom prst="straightConnector1">
            <a:avLst/>
          </a:prstGeom>
          <a:noFill/>
          <a:ln w="19050" cap="flat" cmpd="sng">
            <a:solidFill>
              <a:srgbClr val="9FECF1"/>
            </a:solidFill>
            <a:prstDash val="sysDot"/>
            <a:miter lim="800000"/>
            <a:headEnd type="stealth" w="med" len="med"/>
            <a:tailEnd type="stealth" w="med" len="med"/>
          </a:ln>
        </p:spPr>
      </p:cxnSp>
      <p:cxnSp>
        <p:nvCxnSpPr>
          <p:cNvPr id="27" name="Google Shape;320;p38">
            <a:extLst>
              <a:ext uri="{FF2B5EF4-FFF2-40B4-BE49-F238E27FC236}">
                <a16:creationId xmlns:a16="http://schemas.microsoft.com/office/drawing/2014/main" id="{62ED21A0-EA22-7B63-2A25-0A1A0490B44A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8005749" y="3082194"/>
            <a:ext cx="916437" cy="2"/>
          </a:xfrm>
          <a:prstGeom prst="straightConnector1">
            <a:avLst/>
          </a:prstGeom>
          <a:noFill/>
          <a:ln w="19050" cap="flat" cmpd="sng">
            <a:solidFill>
              <a:srgbClr val="9FECF1"/>
            </a:solidFill>
            <a:prstDash val="sysDot"/>
            <a:miter lim="800000"/>
            <a:headEnd type="stealth" w="med" len="med"/>
            <a:tailEnd type="stealth" w="med" len="med"/>
          </a:ln>
        </p:spPr>
      </p:cxnSp>
      <p:cxnSp>
        <p:nvCxnSpPr>
          <p:cNvPr id="30" name="Google Shape;320;p38">
            <a:extLst>
              <a:ext uri="{FF2B5EF4-FFF2-40B4-BE49-F238E27FC236}">
                <a16:creationId xmlns:a16="http://schemas.microsoft.com/office/drawing/2014/main" id="{AEA09A74-833C-FF54-B49F-0E9DC25BC69A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8014049" y="4169208"/>
            <a:ext cx="908137" cy="682017"/>
          </a:xfrm>
          <a:prstGeom prst="straightConnector1">
            <a:avLst/>
          </a:prstGeom>
          <a:noFill/>
          <a:ln w="19050" cap="flat" cmpd="sng">
            <a:solidFill>
              <a:srgbClr val="9FECF1"/>
            </a:solidFill>
            <a:prstDash val="sysDot"/>
            <a:miter lim="800000"/>
            <a:headEnd type="stealth" w="med" len="med"/>
            <a:tailEnd type="stealth" w="med" len="med"/>
          </a:ln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215C966-AE38-D463-5A57-90F3D1E82A40}"/>
              </a:ext>
            </a:extLst>
          </p:cNvPr>
          <p:cNvSpPr txBox="1"/>
          <p:nvPr/>
        </p:nvSpPr>
        <p:spPr>
          <a:xfrm>
            <a:off x="9214057" y="2280180"/>
            <a:ext cx="21654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DBOS Conductor</a:t>
            </a:r>
          </a:p>
          <a:p>
            <a:pPr algn="ctr"/>
            <a:r>
              <a:rPr lang="en-US" sz="2000" i="1" dirty="0">
                <a:solidFill>
                  <a:srgbClr val="9FECF1"/>
                </a:solidFill>
                <a:latin typeface="Helvetica" panose="020B0604020202020204"/>
                <a:cs typeface="Helvetica" panose="020B0604020202020204"/>
              </a:rPr>
              <a:t>(Out-of-band)</a:t>
            </a:r>
          </a:p>
        </p:txBody>
      </p:sp>
      <p:sp>
        <p:nvSpPr>
          <p:cNvPr id="1029" name="Google Shape;319;p38">
            <a:extLst>
              <a:ext uri="{FF2B5EF4-FFF2-40B4-BE49-F238E27FC236}">
                <a16:creationId xmlns:a16="http://schemas.microsoft.com/office/drawing/2014/main" id="{909D1481-F707-E820-E48E-AF79E0F7B0EC}"/>
              </a:ext>
            </a:extLst>
          </p:cNvPr>
          <p:cNvSpPr/>
          <p:nvPr/>
        </p:nvSpPr>
        <p:spPr>
          <a:xfrm>
            <a:off x="9179133" y="3119104"/>
            <a:ext cx="2271030" cy="429480"/>
          </a:xfrm>
          <a:prstGeom prst="roundRect">
            <a:avLst>
              <a:gd name="adj" fmla="val 16667"/>
            </a:avLst>
          </a:prstGeom>
          <a:solidFill>
            <a:srgbClr val="81C2C4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Workflows Dashboard</a:t>
            </a:r>
          </a:p>
        </p:txBody>
      </p:sp>
      <p:sp>
        <p:nvSpPr>
          <p:cNvPr id="1030" name="Google Shape;319;p38">
            <a:extLst>
              <a:ext uri="{FF2B5EF4-FFF2-40B4-BE49-F238E27FC236}">
                <a16:creationId xmlns:a16="http://schemas.microsoft.com/office/drawing/2014/main" id="{F944530F-421D-EC0C-279D-8F86B853E89E}"/>
              </a:ext>
            </a:extLst>
          </p:cNvPr>
          <p:cNvSpPr/>
          <p:nvPr/>
        </p:nvSpPr>
        <p:spPr>
          <a:xfrm>
            <a:off x="9179133" y="3658293"/>
            <a:ext cx="2271030" cy="429480"/>
          </a:xfrm>
          <a:prstGeom prst="roundRect">
            <a:avLst>
              <a:gd name="adj" fmla="val 16667"/>
            </a:avLst>
          </a:prstGeom>
          <a:solidFill>
            <a:srgbClr val="81C2C4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Distributed Recovery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535860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821"/>
        </a:solidFill>
        <a:effectLst/>
      </p:bgPr>
    </p:bg>
    <p:spTree>
      <p:nvGrpSpPr>
        <p:cNvPr id="1" name="Shape 316">
          <a:extLst>
            <a:ext uri="{FF2B5EF4-FFF2-40B4-BE49-F238E27FC236}">
              <a16:creationId xmlns:a16="http://schemas.microsoft.com/office/drawing/2014/main" id="{27EDF7EC-4C2B-DE96-96D4-980C64A21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19;p38">
            <a:extLst>
              <a:ext uri="{FF2B5EF4-FFF2-40B4-BE49-F238E27FC236}">
                <a16:creationId xmlns:a16="http://schemas.microsoft.com/office/drawing/2014/main" id="{A646EE7A-A9B8-54FD-8046-87A3E0FFAE13}"/>
              </a:ext>
            </a:extLst>
          </p:cNvPr>
          <p:cNvSpPr/>
          <p:nvPr/>
        </p:nvSpPr>
        <p:spPr>
          <a:xfrm>
            <a:off x="322289" y="1193166"/>
            <a:ext cx="3772351" cy="4201563"/>
          </a:xfrm>
          <a:prstGeom prst="roundRect">
            <a:avLst>
              <a:gd name="adj" fmla="val 5675"/>
            </a:avLst>
          </a:prstGeom>
          <a:solidFill>
            <a:srgbClr val="1C2726"/>
          </a:solidFill>
          <a:ln w="28575" cap="flat" cmpd="sng">
            <a:solidFill>
              <a:srgbClr val="9FECF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6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314FE1-7489-95DD-03F9-B5468971A9B6}"/>
              </a:ext>
            </a:extLst>
          </p:cNvPr>
          <p:cNvSpPr txBox="1"/>
          <p:nvPr/>
        </p:nvSpPr>
        <p:spPr>
          <a:xfrm>
            <a:off x="1177336" y="1509517"/>
            <a:ext cx="21654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Postgres</a:t>
            </a:r>
          </a:p>
        </p:txBody>
      </p:sp>
      <p:sp>
        <p:nvSpPr>
          <p:cNvPr id="10" name="Google Shape;319;p38">
            <a:extLst>
              <a:ext uri="{FF2B5EF4-FFF2-40B4-BE49-F238E27FC236}">
                <a16:creationId xmlns:a16="http://schemas.microsoft.com/office/drawing/2014/main" id="{DE119F1E-19CF-0199-377C-AD8E95118262}"/>
              </a:ext>
            </a:extLst>
          </p:cNvPr>
          <p:cNvSpPr/>
          <p:nvPr/>
        </p:nvSpPr>
        <p:spPr>
          <a:xfrm>
            <a:off x="517045" y="2303031"/>
            <a:ext cx="3418929" cy="2505748"/>
          </a:xfrm>
          <a:prstGeom prst="roundRect">
            <a:avLst>
              <a:gd name="adj" fmla="val 6249"/>
            </a:avLst>
          </a:prstGeom>
          <a:solidFill>
            <a:srgbClr val="81C2C4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t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DBOS System Database</a:t>
            </a:r>
            <a:endParaRPr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8" name="Google Shape;320;p38">
            <a:extLst>
              <a:ext uri="{FF2B5EF4-FFF2-40B4-BE49-F238E27FC236}">
                <a16:creationId xmlns:a16="http://schemas.microsoft.com/office/drawing/2014/main" id="{E1FE4414-27C3-1249-F03F-EB4E6ACFF483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4094640" y="3082196"/>
            <a:ext cx="966034" cy="0"/>
          </a:xfrm>
          <a:prstGeom prst="straightConnector1">
            <a:avLst/>
          </a:prstGeom>
          <a:noFill/>
          <a:ln w="19050" cap="flat" cmpd="sng">
            <a:solidFill>
              <a:srgbClr val="9FECF1"/>
            </a:solidFill>
            <a:prstDash val="solid"/>
            <a:miter lim="800000"/>
            <a:headEnd type="stealth" w="med" len="med"/>
            <a:tailEnd type="stealth" w="med" len="med"/>
          </a:ln>
        </p:spPr>
      </p:cxnSp>
      <p:cxnSp>
        <p:nvCxnSpPr>
          <p:cNvPr id="60" name="Google Shape;320;p38">
            <a:extLst>
              <a:ext uri="{FF2B5EF4-FFF2-40B4-BE49-F238E27FC236}">
                <a16:creationId xmlns:a16="http://schemas.microsoft.com/office/drawing/2014/main" id="{853848A1-3F68-A82C-4B9B-F3236D35ACB7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4094640" y="1674157"/>
            <a:ext cx="971189" cy="0"/>
          </a:xfrm>
          <a:prstGeom prst="straightConnector1">
            <a:avLst/>
          </a:prstGeom>
          <a:noFill/>
          <a:ln w="19050" cap="flat" cmpd="sng">
            <a:solidFill>
              <a:srgbClr val="9FECF1"/>
            </a:solidFill>
            <a:prstDash val="solid"/>
            <a:miter lim="800000"/>
            <a:headEnd type="stealth" w="med" len="med"/>
            <a:tailEnd type="stealth" w="med" len="med"/>
          </a:ln>
        </p:spPr>
      </p:cxnSp>
      <p:cxnSp>
        <p:nvCxnSpPr>
          <p:cNvPr id="63" name="Google Shape;320;p38">
            <a:extLst>
              <a:ext uri="{FF2B5EF4-FFF2-40B4-BE49-F238E27FC236}">
                <a16:creationId xmlns:a16="http://schemas.microsoft.com/office/drawing/2014/main" id="{837D151B-C7BD-A61E-B94B-AEA18A608335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4094640" y="4788709"/>
            <a:ext cx="963457" cy="0"/>
          </a:xfrm>
          <a:prstGeom prst="straightConnector1">
            <a:avLst/>
          </a:prstGeom>
          <a:noFill/>
          <a:ln w="19050" cap="flat" cmpd="sng">
            <a:solidFill>
              <a:srgbClr val="9FECF1"/>
            </a:solidFill>
            <a:prstDash val="solid"/>
            <a:miter lim="800000"/>
            <a:headEnd type="stealth" w="med" len="med"/>
            <a:tailEnd type="stealth" w="med" len="med"/>
          </a:ln>
        </p:spPr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B7518C7E-16CB-68DF-F7C6-7A2F0542B772}"/>
              </a:ext>
            </a:extLst>
          </p:cNvPr>
          <p:cNvGrpSpPr/>
          <p:nvPr/>
        </p:nvGrpSpPr>
        <p:grpSpPr>
          <a:xfrm>
            <a:off x="5060674" y="2601205"/>
            <a:ext cx="2720421" cy="1087014"/>
            <a:chOff x="8345470" y="3316756"/>
            <a:chExt cx="3427691" cy="1087014"/>
          </a:xfrm>
        </p:grpSpPr>
        <p:sp>
          <p:nvSpPr>
            <p:cNvPr id="3" name="Google Shape;319;p38">
              <a:extLst>
                <a:ext uri="{FF2B5EF4-FFF2-40B4-BE49-F238E27FC236}">
                  <a16:creationId xmlns:a16="http://schemas.microsoft.com/office/drawing/2014/main" id="{DE7918AC-56B1-40FD-989E-99A4961CBEC4}"/>
                </a:ext>
              </a:extLst>
            </p:cNvPr>
            <p:cNvSpPr/>
            <p:nvPr/>
          </p:nvSpPr>
          <p:spPr>
            <a:xfrm>
              <a:off x="8350625" y="3316756"/>
              <a:ext cx="3422536" cy="1087014"/>
            </a:xfrm>
            <a:prstGeom prst="roundRect">
              <a:avLst>
                <a:gd name="adj" fmla="val 16667"/>
              </a:avLst>
            </a:prstGeom>
            <a:solidFill>
              <a:srgbClr val="1C2726"/>
            </a:solidFill>
            <a:ln w="28575" cap="flat" cmpd="sng">
              <a:solidFill>
                <a:srgbClr val="9FECF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endParaRPr sz="2000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64C9B10-31AB-22F3-8E88-4FC2EFFC0FD0}"/>
                </a:ext>
              </a:extLst>
            </p:cNvPr>
            <p:cNvSpPr txBox="1"/>
            <p:nvPr/>
          </p:nvSpPr>
          <p:spPr>
            <a:xfrm>
              <a:off x="8345470" y="3474581"/>
              <a:ext cx="34139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Helvetica" panose="020B0604020202020204"/>
                  <a:cs typeface="Helvetica" panose="020B0604020202020204"/>
                </a:rPr>
                <a:t>Application Process 2</a:t>
              </a:r>
            </a:p>
            <a:p>
              <a:pPr algn="ctr"/>
              <a:endPara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13" name="Google Shape;319;p38">
              <a:extLst>
                <a:ext uri="{FF2B5EF4-FFF2-40B4-BE49-F238E27FC236}">
                  <a16:creationId xmlns:a16="http://schemas.microsoft.com/office/drawing/2014/main" id="{FB72DE32-AABC-CF96-7A7B-F51AE22EBD7D}"/>
                </a:ext>
              </a:extLst>
            </p:cNvPr>
            <p:cNvSpPr/>
            <p:nvPr/>
          </p:nvSpPr>
          <p:spPr>
            <a:xfrm>
              <a:off x="8656760" y="3963742"/>
              <a:ext cx="2861465" cy="331050"/>
            </a:xfrm>
            <a:prstGeom prst="roundRect">
              <a:avLst>
                <a:gd name="adj" fmla="val 16667"/>
              </a:avLst>
            </a:prstGeom>
            <a:solidFill>
              <a:srgbClr val="E6FF78"/>
            </a:solidFill>
            <a:ln w="28575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r>
                <a:rPr lang="en-US" sz="1600" dirty="0">
                  <a:latin typeface="Helvetica" panose="020B0604020202020204"/>
                  <a:cs typeface="Helvetica" panose="020B0604020202020204"/>
                </a:rPr>
                <a:t>DBOS Library</a:t>
              </a:r>
              <a:endParaRPr sz="1600" dirty="0">
                <a:latin typeface="Helvetica" panose="020B0604020202020204"/>
                <a:cs typeface="Helvetica" panose="020B0604020202020204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9651881-608E-8B2D-7219-944CF1D2543A}"/>
              </a:ext>
            </a:extLst>
          </p:cNvPr>
          <p:cNvGrpSpPr/>
          <p:nvPr/>
        </p:nvGrpSpPr>
        <p:grpSpPr>
          <a:xfrm>
            <a:off x="5058097" y="4307718"/>
            <a:ext cx="2720421" cy="1087014"/>
            <a:chOff x="8345470" y="3316756"/>
            <a:chExt cx="3427691" cy="1087014"/>
          </a:xfrm>
        </p:grpSpPr>
        <p:sp>
          <p:nvSpPr>
            <p:cNvPr id="15" name="Google Shape;319;p38">
              <a:extLst>
                <a:ext uri="{FF2B5EF4-FFF2-40B4-BE49-F238E27FC236}">
                  <a16:creationId xmlns:a16="http://schemas.microsoft.com/office/drawing/2014/main" id="{A0DAD9D2-3D1C-D538-C655-7F8CF917DED7}"/>
                </a:ext>
              </a:extLst>
            </p:cNvPr>
            <p:cNvSpPr/>
            <p:nvPr/>
          </p:nvSpPr>
          <p:spPr>
            <a:xfrm>
              <a:off x="8350625" y="3316756"/>
              <a:ext cx="3422536" cy="1087014"/>
            </a:xfrm>
            <a:prstGeom prst="roundRect">
              <a:avLst>
                <a:gd name="adj" fmla="val 16667"/>
              </a:avLst>
            </a:prstGeom>
            <a:solidFill>
              <a:srgbClr val="1C2726"/>
            </a:solidFill>
            <a:ln w="28575" cap="flat" cmpd="sng">
              <a:solidFill>
                <a:srgbClr val="9FECF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endParaRPr sz="2000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7AB4D70-FE89-98ED-B3B3-DECCDE1C2468}"/>
                </a:ext>
              </a:extLst>
            </p:cNvPr>
            <p:cNvSpPr txBox="1"/>
            <p:nvPr/>
          </p:nvSpPr>
          <p:spPr>
            <a:xfrm>
              <a:off x="8345470" y="3474581"/>
              <a:ext cx="34139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Helvetica" panose="020B0604020202020204"/>
                  <a:cs typeface="Helvetica" panose="020B0604020202020204"/>
                </a:rPr>
                <a:t>Application Process N</a:t>
              </a:r>
            </a:p>
            <a:p>
              <a:pPr algn="ctr"/>
              <a:endPara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17" name="Google Shape;319;p38">
              <a:extLst>
                <a:ext uri="{FF2B5EF4-FFF2-40B4-BE49-F238E27FC236}">
                  <a16:creationId xmlns:a16="http://schemas.microsoft.com/office/drawing/2014/main" id="{660A7DA4-C48A-3FE3-2002-DE6AA32FB581}"/>
                </a:ext>
              </a:extLst>
            </p:cNvPr>
            <p:cNvSpPr/>
            <p:nvPr/>
          </p:nvSpPr>
          <p:spPr>
            <a:xfrm>
              <a:off x="8656760" y="3963742"/>
              <a:ext cx="2861465" cy="331050"/>
            </a:xfrm>
            <a:prstGeom prst="roundRect">
              <a:avLst>
                <a:gd name="adj" fmla="val 16667"/>
              </a:avLst>
            </a:prstGeom>
            <a:solidFill>
              <a:srgbClr val="E6FF78"/>
            </a:solidFill>
            <a:ln w="28575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r>
                <a:rPr lang="en-US" sz="1600" dirty="0">
                  <a:latin typeface="Helvetica" panose="020B0604020202020204"/>
                  <a:cs typeface="Helvetica" panose="020B0604020202020204"/>
                </a:rPr>
                <a:t>DBOS Library</a:t>
              </a:r>
              <a:endParaRPr sz="1600" dirty="0">
                <a:latin typeface="Helvetica" panose="020B0604020202020204"/>
                <a:cs typeface="Helvetica" panose="020B0604020202020204"/>
              </a:endParaRPr>
            </a:p>
          </p:txBody>
        </p:sp>
      </p:grpSp>
      <p:sp>
        <p:nvSpPr>
          <p:cNvPr id="23" name="Google Shape;319;p38">
            <a:extLst>
              <a:ext uri="{FF2B5EF4-FFF2-40B4-BE49-F238E27FC236}">
                <a16:creationId xmlns:a16="http://schemas.microsoft.com/office/drawing/2014/main" id="{3FAB2D7F-4450-CE5D-1F06-AC5C14E925AF}"/>
              </a:ext>
            </a:extLst>
          </p:cNvPr>
          <p:cNvSpPr/>
          <p:nvPr/>
        </p:nvSpPr>
        <p:spPr>
          <a:xfrm>
            <a:off x="2260064" y="2828125"/>
            <a:ext cx="1601790" cy="637329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Step Checkpoints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9ACA885E-A86B-1BBD-709E-E833F71C1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19" y="1344406"/>
            <a:ext cx="642671" cy="66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Google Shape;319;p38">
            <a:extLst>
              <a:ext uri="{FF2B5EF4-FFF2-40B4-BE49-F238E27FC236}">
                <a16:creationId xmlns:a16="http://schemas.microsoft.com/office/drawing/2014/main" id="{F8FAEF34-3439-381F-FF0F-0750362CB4E9}"/>
              </a:ext>
            </a:extLst>
          </p:cNvPr>
          <p:cNvSpPr/>
          <p:nvPr/>
        </p:nvSpPr>
        <p:spPr>
          <a:xfrm>
            <a:off x="576959" y="2828126"/>
            <a:ext cx="1601791" cy="637330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Workflow Checkpoints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5" name="Google Shape;319;p38">
            <a:extLst>
              <a:ext uri="{FF2B5EF4-FFF2-40B4-BE49-F238E27FC236}">
                <a16:creationId xmlns:a16="http://schemas.microsoft.com/office/drawing/2014/main" id="{090EBA8A-5FD2-9A48-7E8B-6C3DCAD7F1F6}"/>
              </a:ext>
            </a:extLst>
          </p:cNvPr>
          <p:cNvSpPr/>
          <p:nvPr/>
        </p:nvSpPr>
        <p:spPr>
          <a:xfrm>
            <a:off x="576959" y="3571847"/>
            <a:ext cx="1601791" cy="417944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Schedules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6" name="Google Shape;319;p38">
            <a:extLst>
              <a:ext uri="{FF2B5EF4-FFF2-40B4-BE49-F238E27FC236}">
                <a16:creationId xmlns:a16="http://schemas.microsoft.com/office/drawing/2014/main" id="{5C8BF486-41AC-B5E9-1F9F-BED2A0ECEAED}"/>
              </a:ext>
            </a:extLst>
          </p:cNvPr>
          <p:cNvSpPr/>
          <p:nvPr/>
        </p:nvSpPr>
        <p:spPr>
          <a:xfrm>
            <a:off x="2260255" y="3571847"/>
            <a:ext cx="1601791" cy="417944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Queues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7" name="Google Shape;319;p38">
            <a:extLst>
              <a:ext uri="{FF2B5EF4-FFF2-40B4-BE49-F238E27FC236}">
                <a16:creationId xmlns:a16="http://schemas.microsoft.com/office/drawing/2014/main" id="{5F41EAA4-7130-245C-7445-917AF596EF82}"/>
              </a:ext>
            </a:extLst>
          </p:cNvPr>
          <p:cNvSpPr/>
          <p:nvPr/>
        </p:nvSpPr>
        <p:spPr>
          <a:xfrm>
            <a:off x="576959" y="4096700"/>
            <a:ext cx="1601791" cy="417944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Messaging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40" name="Google Shape;319;p38">
            <a:extLst>
              <a:ext uri="{FF2B5EF4-FFF2-40B4-BE49-F238E27FC236}">
                <a16:creationId xmlns:a16="http://schemas.microsoft.com/office/drawing/2014/main" id="{C9394EFF-BFAC-444A-26F0-97EC085E7BF7}"/>
              </a:ext>
            </a:extLst>
          </p:cNvPr>
          <p:cNvSpPr/>
          <p:nvPr/>
        </p:nvSpPr>
        <p:spPr>
          <a:xfrm>
            <a:off x="2260063" y="4098642"/>
            <a:ext cx="1601791" cy="416392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Versions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452C9BB-70C5-9C13-AA41-B3679E02D150}"/>
              </a:ext>
            </a:extLst>
          </p:cNvPr>
          <p:cNvSpPr txBox="1"/>
          <p:nvPr/>
        </p:nvSpPr>
        <p:spPr>
          <a:xfrm rot="5400000">
            <a:off x="6242546" y="3712792"/>
            <a:ext cx="51167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…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711F514-0349-4DF9-DDD7-9CEF7E29FEDC}"/>
              </a:ext>
            </a:extLst>
          </p:cNvPr>
          <p:cNvGrpSpPr/>
          <p:nvPr/>
        </p:nvGrpSpPr>
        <p:grpSpPr>
          <a:xfrm>
            <a:off x="5065829" y="1193166"/>
            <a:ext cx="2720421" cy="1087014"/>
            <a:chOff x="8345470" y="3316756"/>
            <a:chExt cx="3427691" cy="1087014"/>
          </a:xfrm>
        </p:grpSpPr>
        <p:sp>
          <p:nvSpPr>
            <p:cNvPr id="7" name="Google Shape;319;p38">
              <a:extLst>
                <a:ext uri="{FF2B5EF4-FFF2-40B4-BE49-F238E27FC236}">
                  <a16:creationId xmlns:a16="http://schemas.microsoft.com/office/drawing/2014/main" id="{A6F1E6C9-6F78-77F0-29FD-5BB9E4145F95}"/>
                </a:ext>
              </a:extLst>
            </p:cNvPr>
            <p:cNvSpPr/>
            <p:nvPr/>
          </p:nvSpPr>
          <p:spPr>
            <a:xfrm>
              <a:off x="8350625" y="3316756"/>
              <a:ext cx="3422536" cy="1087014"/>
            </a:xfrm>
            <a:prstGeom prst="roundRect">
              <a:avLst>
                <a:gd name="adj" fmla="val 16667"/>
              </a:avLst>
            </a:prstGeom>
            <a:solidFill>
              <a:srgbClr val="1C2726"/>
            </a:solidFill>
            <a:ln w="28575" cap="flat" cmpd="sng">
              <a:solidFill>
                <a:srgbClr val="9FECF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endParaRPr sz="2000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56B022C-31D3-C071-D6AB-66E8E768FF21}"/>
                </a:ext>
              </a:extLst>
            </p:cNvPr>
            <p:cNvSpPr txBox="1"/>
            <p:nvPr/>
          </p:nvSpPr>
          <p:spPr>
            <a:xfrm>
              <a:off x="8345470" y="3474581"/>
              <a:ext cx="34139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Helvetica" panose="020B0604020202020204"/>
                  <a:cs typeface="Helvetica" panose="020B0604020202020204"/>
                </a:rPr>
                <a:t>Application Process 1</a:t>
              </a:r>
            </a:p>
            <a:p>
              <a:pPr algn="ctr"/>
              <a:endPara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9" name="Google Shape;319;p38">
              <a:extLst>
                <a:ext uri="{FF2B5EF4-FFF2-40B4-BE49-F238E27FC236}">
                  <a16:creationId xmlns:a16="http://schemas.microsoft.com/office/drawing/2014/main" id="{070A9109-BEB5-0001-B9F7-F6EECEC26726}"/>
                </a:ext>
              </a:extLst>
            </p:cNvPr>
            <p:cNvSpPr/>
            <p:nvPr/>
          </p:nvSpPr>
          <p:spPr>
            <a:xfrm>
              <a:off x="8656760" y="3963742"/>
              <a:ext cx="2861465" cy="331050"/>
            </a:xfrm>
            <a:prstGeom prst="roundRect">
              <a:avLst>
                <a:gd name="adj" fmla="val 16667"/>
              </a:avLst>
            </a:prstGeom>
            <a:solidFill>
              <a:srgbClr val="E6FF78"/>
            </a:solidFill>
            <a:ln w="28575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r>
                <a:rPr lang="en-US" sz="1600" dirty="0">
                  <a:latin typeface="Helvetica" panose="020B0604020202020204"/>
                  <a:cs typeface="Helvetica" panose="020B0604020202020204"/>
                </a:rPr>
                <a:t>DBOS Library</a:t>
              </a:r>
              <a:endParaRPr sz="1600" dirty="0">
                <a:latin typeface="Helvetica" panose="020B0604020202020204"/>
                <a:cs typeface="Helvetica" panose="020B0604020202020204"/>
              </a:endParaRPr>
            </a:p>
          </p:txBody>
        </p:sp>
      </p:grpSp>
      <p:sp>
        <p:nvSpPr>
          <p:cNvPr id="22" name="Google Shape;319;p38">
            <a:extLst>
              <a:ext uri="{FF2B5EF4-FFF2-40B4-BE49-F238E27FC236}">
                <a16:creationId xmlns:a16="http://schemas.microsoft.com/office/drawing/2014/main" id="{50480093-5056-9939-1C1D-EF136062C652}"/>
              </a:ext>
            </a:extLst>
          </p:cNvPr>
          <p:cNvSpPr/>
          <p:nvPr/>
        </p:nvSpPr>
        <p:spPr>
          <a:xfrm>
            <a:off x="9090619" y="1193166"/>
            <a:ext cx="2716330" cy="4201563"/>
          </a:xfrm>
          <a:prstGeom prst="roundRect">
            <a:avLst>
              <a:gd name="adj" fmla="val 8506"/>
            </a:avLst>
          </a:prstGeom>
          <a:solidFill>
            <a:srgbClr val="1C2726"/>
          </a:solidFill>
          <a:ln w="28575" cap="flat" cmpd="sng">
            <a:solidFill>
              <a:srgbClr val="9FECF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i="1" dirty="0">
              <a:solidFill>
                <a:srgbClr val="9FECF1"/>
              </a:solidFill>
              <a:latin typeface="Helvetica" panose="020B0604020202020204"/>
              <a:cs typeface="Helvetica" panose="020B0604020202020204"/>
            </a:endParaRPr>
          </a:p>
        </p:txBody>
      </p:sp>
      <p:cxnSp>
        <p:nvCxnSpPr>
          <p:cNvPr id="24" name="Google Shape;320;p38">
            <a:extLst>
              <a:ext uri="{FF2B5EF4-FFF2-40B4-BE49-F238E27FC236}">
                <a16:creationId xmlns:a16="http://schemas.microsoft.com/office/drawing/2014/main" id="{FD4B1D7C-FD26-1E94-4E35-EDF1F70EDB2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7786250" y="1736673"/>
            <a:ext cx="1304369" cy="0"/>
          </a:xfrm>
          <a:prstGeom prst="straightConnector1">
            <a:avLst/>
          </a:prstGeom>
          <a:noFill/>
          <a:ln w="19050" cap="flat" cmpd="sng">
            <a:solidFill>
              <a:srgbClr val="9FECF1"/>
            </a:solidFill>
            <a:prstDash val="sysDot"/>
            <a:miter lim="800000"/>
            <a:headEnd type="stealth" w="med" len="med"/>
            <a:tailEnd type="stealth" w="med" len="med"/>
          </a:ln>
        </p:spPr>
      </p:cxnSp>
      <p:cxnSp>
        <p:nvCxnSpPr>
          <p:cNvPr id="27" name="Google Shape;320;p38">
            <a:extLst>
              <a:ext uri="{FF2B5EF4-FFF2-40B4-BE49-F238E27FC236}">
                <a16:creationId xmlns:a16="http://schemas.microsoft.com/office/drawing/2014/main" id="{62ED21A0-EA22-7B63-2A25-0A1A0490B44A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7770218" y="3082196"/>
            <a:ext cx="1280033" cy="0"/>
          </a:xfrm>
          <a:prstGeom prst="straightConnector1">
            <a:avLst/>
          </a:prstGeom>
          <a:noFill/>
          <a:ln w="19050" cap="flat" cmpd="sng">
            <a:solidFill>
              <a:srgbClr val="9FECF1"/>
            </a:solidFill>
            <a:prstDash val="sysDot"/>
            <a:miter lim="800000"/>
            <a:headEnd type="stealth" w="med" len="med"/>
            <a:tailEnd type="stealth" w="med" len="med"/>
          </a:ln>
        </p:spPr>
      </p:cxnSp>
      <p:cxnSp>
        <p:nvCxnSpPr>
          <p:cNvPr id="30" name="Google Shape;320;p38">
            <a:extLst>
              <a:ext uri="{FF2B5EF4-FFF2-40B4-BE49-F238E27FC236}">
                <a16:creationId xmlns:a16="http://schemas.microsoft.com/office/drawing/2014/main" id="{AEA09A74-833C-FF54-B49F-0E9DC25BC69A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7778518" y="4851225"/>
            <a:ext cx="1309524" cy="0"/>
          </a:xfrm>
          <a:prstGeom prst="straightConnector1">
            <a:avLst/>
          </a:prstGeom>
          <a:noFill/>
          <a:ln w="19050" cap="flat" cmpd="sng">
            <a:solidFill>
              <a:srgbClr val="9FECF1"/>
            </a:solidFill>
            <a:prstDash val="sysDot"/>
            <a:miter lim="800000"/>
            <a:headEnd type="stealth" w="med" len="med"/>
            <a:tailEnd type="stealth" w="med" len="med"/>
          </a:ln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215C966-AE38-D463-5A57-90F3D1E82A40}"/>
              </a:ext>
            </a:extLst>
          </p:cNvPr>
          <p:cNvSpPr txBox="1"/>
          <p:nvPr/>
        </p:nvSpPr>
        <p:spPr>
          <a:xfrm>
            <a:off x="9366057" y="1597212"/>
            <a:ext cx="21654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DBOS Conductor</a:t>
            </a:r>
          </a:p>
          <a:p>
            <a:pPr algn="ctr"/>
            <a:r>
              <a:rPr lang="en-US" sz="2000" i="1" dirty="0">
                <a:solidFill>
                  <a:srgbClr val="9FECF1"/>
                </a:solidFill>
                <a:latin typeface="Helvetica" panose="020B0604020202020204"/>
                <a:cs typeface="Helvetica" panose="020B0604020202020204"/>
              </a:rPr>
              <a:t>(Out-of-band)</a:t>
            </a:r>
          </a:p>
        </p:txBody>
      </p:sp>
      <p:sp>
        <p:nvSpPr>
          <p:cNvPr id="62" name="Google Shape;319;p38">
            <a:extLst>
              <a:ext uri="{FF2B5EF4-FFF2-40B4-BE49-F238E27FC236}">
                <a16:creationId xmlns:a16="http://schemas.microsoft.com/office/drawing/2014/main" id="{5F1A8718-A36F-AC32-5D31-DF19FD18EEC2}"/>
              </a:ext>
            </a:extLst>
          </p:cNvPr>
          <p:cNvSpPr/>
          <p:nvPr/>
        </p:nvSpPr>
        <p:spPr>
          <a:xfrm>
            <a:off x="9313268" y="2501713"/>
            <a:ext cx="2271030" cy="331050"/>
          </a:xfrm>
          <a:prstGeom prst="roundRect">
            <a:avLst>
              <a:gd name="adj" fmla="val 16667"/>
            </a:avLst>
          </a:prstGeom>
          <a:solidFill>
            <a:srgbClr val="E6FF78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Workflow Visualization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025" name="Google Shape;319;p38">
            <a:extLst>
              <a:ext uri="{FF2B5EF4-FFF2-40B4-BE49-F238E27FC236}">
                <a16:creationId xmlns:a16="http://schemas.microsoft.com/office/drawing/2014/main" id="{8C1F623A-03FF-142F-9764-0DD08A5E3FCD}"/>
              </a:ext>
            </a:extLst>
          </p:cNvPr>
          <p:cNvSpPr/>
          <p:nvPr/>
        </p:nvSpPr>
        <p:spPr>
          <a:xfrm>
            <a:off x="9293085" y="3002772"/>
            <a:ext cx="2271030" cy="331050"/>
          </a:xfrm>
          <a:prstGeom prst="roundRect">
            <a:avLst>
              <a:gd name="adj" fmla="val 16667"/>
            </a:avLst>
          </a:prstGeom>
          <a:solidFill>
            <a:srgbClr val="E6FF78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Data Retention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027" name="Google Shape;319;p38">
            <a:extLst>
              <a:ext uri="{FF2B5EF4-FFF2-40B4-BE49-F238E27FC236}">
                <a16:creationId xmlns:a16="http://schemas.microsoft.com/office/drawing/2014/main" id="{4BF39471-D105-B3A1-1FB7-E72FC214FB38}"/>
              </a:ext>
            </a:extLst>
          </p:cNvPr>
          <p:cNvSpPr/>
          <p:nvPr/>
        </p:nvSpPr>
        <p:spPr>
          <a:xfrm>
            <a:off x="9313268" y="3503831"/>
            <a:ext cx="2271030" cy="331050"/>
          </a:xfrm>
          <a:prstGeom prst="roundRect">
            <a:avLst>
              <a:gd name="adj" fmla="val 16667"/>
            </a:avLst>
          </a:prstGeom>
          <a:solidFill>
            <a:srgbClr val="E6FF78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Alerting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028" name="Google Shape;319;p38">
            <a:extLst>
              <a:ext uri="{FF2B5EF4-FFF2-40B4-BE49-F238E27FC236}">
                <a16:creationId xmlns:a16="http://schemas.microsoft.com/office/drawing/2014/main" id="{888ABD30-BB48-A3A1-0CE1-78818C14724C}"/>
              </a:ext>
            </a:extLst>
          </p:cNvPr>
          <p:cNvSpPr/>
          <p:nvPr/>
        </p:nvSpPr>
        <p:spPr>
          <a:xfrm>
            <a:off x="9313268" y="4004890"/>
            <a:ext cx="2271030" cy="331050"/>
          </a:xfrm>
          <a:prstGeom prst="roundRect">
            <a:avLst>
              <a:gd name="adj" fmla="val 16667"/>
            </a:avLst>
          </a:prstGeom>
          <a:solidFill>
            <a:srgbClr val="E6FF78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High Availability</a:t>
            </a:r>
          </a:p>
        </p:txBody>
      </p:sp>
      <p:sp>
        <p:nvSpPr>
          <p:cNvPr id="1029" name="Google Shape;319;p38">
            <a:extLst>
              <a:ext uri="{FF2B5EF4-FFF2-40B4-BE49-F238E27FC236}">
                <a16:creationId xmlns:a16="http://schemas.microsoft.com/office/drawing/2014/main" id="{909D1481-F707-E820-E48E-AF79E0F7B0EC}"/>
              </a:ext>
            </a:extLst>
          </p:cNvPr>
          <p:cNvSpPr/>
          <p:nvPr/>
        </p:nvSpPr>
        <p:spPr>
          <a:xfrm>
            <a:off x="9313268" y="4505950"/>
            <a:ext cx="2271030" cy="331050"/>
          </a:xfrm>
          <a:prstGeom prst="roundRect">
            <a:avLst>
              <a:gd name="adj" fmla="val 16667"/>
            </a:avLst>
          </a:prstGeom>
          <a:solidFill>
            <a:srgbClr val="E6FF78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Distributed Recovery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1" name="Google Shape;363;p40">
            <a:extLst>
              <a:ext uri="{FF2B5EF4-FFF2-40B4-BE49-F238E27FC236}">
                <a16:creationId xmlns:a16="http://schemas.microsoft.com/office/drawing/2014/main" id="{1E858460-CABF-B2C8-5579-4A2DBFF15C45}"/>
              </a:ext>
            </a:extLst>
          </p:cNvPr>
          <p:cNvSpPr txBox="1"/>
          <p:nvPr/>
        </p:nvSpPr>
        <p:spPr>
          <a:xfrm>
            <a:off x="7723735" y="2365742"/>
            <a:ext cx="1421668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1700" dirty="0">
                <a:solidFill>
                  <a:schemeClr val="bg1"/>
                </a:solidFill>
                <a:latin typeface="Helvetica" panose="020B0604020202020204" pitchFamily="34" charset="0"/>
                <a:ea typeface="IBM Plex Sans"/>
                <a:cs typeface="Helvetica" panose="020B0604020202020204" pitchFamily="34" charset="0"/>
                <a:sym typeface="IBM Plex Sans"/>
              </a:rPr>
              <a:t>Secure WebSocket</a:t>
            </a:r>
          </a:p>
        </p:txBody>
      </p:sp>
    </p:spTree>
    <p:extLst>
      <p:ext uri="{BB962C8B-B14F-4D97-AF65-F5344CB8AC3E}">
        <p14:creationId xmlns:p14="http://schemas.microsoft.com/office/powerpoint/2010/main" val="102042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821"/>
        </a:solidFill>
        <a:effectLst/>
      </p:bgPr>
    </p:bg>
    <p:spTree>
      <p:nvGrpSpPr>
        <p:cNvPr id="1" name="Shape 316">
          <a:extLst>
            <a:ext uri="{FF2B5EF4-FFF2-40B4-BE49-F238E27FC236}">
              <a16:creationId xmlns:a16="http://schemas.microsoft.com/office/drawing/2014/main" id="{27EDF7EC-4C2B-DE96-96D4-980C64A21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19;p38">
            <a:extLst>
              <a:ext uri="{FF2B5EF4-FFF2-40B4-BE49-F238E27FC236}">
                <a16:creationId xmlns:a16="http://schemas.microsoft.com/office/drawing/2014/main" id="{A646EE7A-A9B8-54FD-8046-87A3E0FFAE13}"/>
              </a:ext>
            </a:extLst>
          </p:cNvPr>
          <p:cNvSpPr/>
          <p:nvPr/>
        </p:nvSpPr>
        <p:spPr>
          <a:xfrm>
            <a:off x="4342934" y="2653854"/>
            <a:ext cx="2185624" cy="1550292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7FBE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6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314FE1-7489-95DD-03F9-B5468971A9B6}"/>
              </a:ext>
            </a:extLst>
          </p:cNvPr>
          <p:cNvSpPr txBox="1"/>
          <p:nvPr/>
        </p:nvSpPr>
        <p:spPr>
          <a:xfrm>
            <a:off x="4320681" y="2792616"/>
            <a:ext cx="2165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Postgres</a:t>
            </a:r>
          </a:p>
        </p:txBody>
      </p:sp>
      <p:sp>
        <p:nvSpPr>
          <p:cNvPr id="10" name="Google Shape;319;p38">
            <a:extLst>
              <a:ext uri="{FF2B5EF4-FFF2-40B4-BE49-F238E27FC236}">
                <a16:creationId xmlns:a16="http://schemas.microsoft.com/office/drawing/2014/main" id="{DE119F1E-19CF-0199-377C-AD8E95118262}"/>
              </a:ext>
            </a:extLst>
          </p:cNvPr>
          <p:cNvSpPr/>
          <p:nvPr/>
        </p:nvSpPr>
        <p:spPr>
          <a:xfrm>
            <a:off x="4636156" y="3249402"/>
            <a:ext cx="1639523" cy="703310"/>
          </a:xfrm>
          <a:prstGeom prst="roundRect">
            <a:avLst>
              <a:gd name="adj" fmla="val 16667"/>
            </a:avLst>
          </a:prstGeom>
          <a:solidFill>
            <a:srgbClr val="E6FF78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DBOS Tables</a:t>
            </a:r>
            <a:endParaRPr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8" name="Google Shape;320;p38">
            <a:extLst>
              <a:ext uri="{FF2B5EF4-FFF2-40B4-BE49-F238E27FC236}">
                <a16:creationId xmlns:a16="http://schemas.microsoft.com/office/drawing/2014/main" id="{E1FE4414-27C3-1249-F03F-EB4E6ACFF483}"/>
              </a:ext>
            </a:extLst>
          </p:cNvPr>
          <p:cNvCxnSpPr>
            <a:cxnSpLocks/>
          </p:cNvCxnSpPr>
          <p:nvPr/>
        </p:nvCxnSpPr>
        <p:spPr>
          <a:xfrm flipV="1">
            <a:off x="6528558" y="3482117"/>
            <a:ext cx="1301905" cy="7270"/>
          </a:xfrm>
          <a:prstGeom prst="straightConnector1">
            <a:avLst/>
          </a:prstGeom>
          <a:noFill/>
          <a:ln w="19050" cap="flat" cmpd="sng">
            <a:solidFill>
              <a:schemeClr val="bg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39" name="Google Shape;363;p40">
            <a:extLst>
              <a:ext uri="{FF2B5EF4-FFF2-40B4-BE49-F238E27FC236}">
                <a16:creationId xmlns:a16="http://schemas.microsoft.com/office/drawing/2014/main" id="{C472299F-28D1-2500-6667-C0B72326E9C0}"/>
              </a:ext>
            </a:extLst>
          </p:cNvPr>
          <p:cNvSpPr txBox="1"/>
          <p:nvPr/>
        </p:nvSpPr>
        <p:spPr>
          <a:xfrm>
            <a:off x="6581814" y="2797433"/>
            <a:ext cx="2097274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700" dirty="0">
                <a:solidFill>
                  <a:schemeClr val="bg1"/>
                </a:solidFill>
                <a:latin typeface="Helvetica" panose="020B0604020202020204" pitchFamily="34" charset="0"/>
                <a:ea typeface="IBM Plex Sans"/>
                <a:cs typeface="Helvetica" panose="020B0604020202020204" pitchFamily="34" charset="0"/>
                <a:sym typeface="IBM Plex Sans"/>
              </a:rPr>
              <a:t>Dequeues</a:t>
            </a:r>
          </a:p>
          <a:p>
            <a:r>
              <a:rPr lang="en" sz="1700" dirty="0">
                <a:solidFill>
                  <a:schemeClr val="bg1"/>
                </a:solidFill>
                <a:latin typeface="Helvetica" panose="020B0604020202020204" pitchFamily="34" charset="0"/>
                <a:ea typeface="IBM Plex Sans"/>
                <a:cs typeface="Helvetica" panose="020B0604020202020204" pitchFamily="34" charset="0"/>
                <a:sym typeface="IBM Plex Sans"/>
              </a:rPr>
              <a:t>Worklows</a:t>
            </a:r>
          </a:p>
        </p:txBody>
      </p:sp>
      <p:cxnSp>
        <p:nvCxnSpPr>
          <p:cNvPr id="45" name="Google Shape;320;p38">
            <a:extLst>
              <a:ext uri="{FF2B5EF4-FFF2-40B4-BE49-F238E27FC236}">
                <a16:creationId xmlns:a16="http://schemas.microsoft.com/office/drawing/2014/main" id="{95091271-4E52-69CA-30EB-5A72DA00A0AE}"/>
              </a:ext>
            </a:extLst>
          </p:cNvPr>
          <p:cNvCxnSpPr>
            <a:cxnSpLocks/>
          </p:cNvCxnSpPr>
          <p:nvPr/>
        </p:nvCxnSpPr>
        <p:spPr>
          <a:xfrm>
            <a:off x="3094621" y="3450584"/>
            <a:ext cx="1243158" cy="0"/>
          </a:xfrm>
          <a:prstGeom prst="straightConnector1">
            <a:avLst/>
          </a:prstGeom>
          <a:noFill/>
          <a:ln w="19050" cap="flat" cmpd="sng">
            <a:solidFill>
              <a:schemeClr val="bg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48" name="Google Shape;363;p40">
            <a:extLst>
              <a:ext uri="{FF2B5EF4-FFF2-40B4-BE49-F238E27FC236}">
                <a16:creationId xmlns:a16="http://schemas.microsoft.com/office/drawing/2014/main" id="{DE2B69E3-A5FB-76AA-F416-B241F8157405}"/>
              </a:ext>
            </a:extLst>
          </p:cNvPr>
          <p:cNvSpPr txBox="1"/>
          <p:nvPr/>
        </p:nvSpPr>
        <p:spPr>
          <a:xfrm>
            <a:off x="3109300" y="2774582"/>
            <a:ext cx="2097274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700" dirty="0">
                <a:solidFill>
                  <a:schemeClr val="bg1"/>
                </a:solidFill>
                <a:latin typeface="Helvetica" panose="020B0604020202020204" pitchFamily="34" charset="0"/>
                <a:ea typeface="IBM Plex Sans"/>
                <a:cs typeface="Helvetica" panose="020B0604020202020204" pitchFamily="34" charset="0"/>
                <a:sym typeface="IBM Plex Sans"/>
              </a:rPr>
              <a:t>Enqueues</a:t>
            </a:r>
          </a:p>
          <a:p>
            <a:r>
              <a:rPr lang="en" sz="1700" dirty="0">
                <a:solidFill>
                  <a:schemeClr val="bg1"/>
                </a:solidFill>
                <a:latin typeface="Helvetica" panose="020B0604020202020204" pitchFamily="34" charset="0"/>
                <a:ea typeface="IBM Plex Sans"/>
                <a:cs typeface="Helvetica" panose="020B0604020202020204" pitchFamily="34" charset="0"/>
                <a:sym typeface="IBM Plex Sans"/>
              </a:rPr>
              <a:t>Workflows</a:t>
            </a:r>
          </a:p>
        </p:txBody>
      </p:sp>
      <p:sp>
        <p:nvSpPr>
          <p:cNvPr id="31" name="Google Shape;319;p38">
            <a:extLst>
              <a:ext uri="{FF2B5EF4-FFF2-40B4-BE49-F238E27FC236}">
                <a16:creationId xmlns:a16="http://schemas.microsoft.com/office/drawing/2014/main" id="{0797EDC3-8135-D30F-14A5-25D5D30016CF}"/>
              </a:ext>
            </a:extLst>
          </p:cNvPr>
          <p:cNvSpPr/>
          <p:nvPr/>
        </p:nvSpPr>
        <p:spPr>
          <a:xfrm>
            <a:off x="890591" y="2782573"/>
            <a:ext cx="2165453" cy="1179835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7FBE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00782E-C2C8-05D6-DE50-B496ECF86690}"/>
              </a:ext>
            </a:extLst>
          </p:cNvPr>
          <p:cNvSpPr txBox="1"/>
          <p:nvPr/>
        </p:nvSpPr>
        <p:spPr>
          <a:xfrm>
            <a:off x="890591" y="2914127"/>
            <a:ext cx="2148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API Server</a:t>
            </a:r>
          </a:p>
        </p:txBody>
      </p:sp>
      <p:sp>
        <p:nvSpPr>
          <p:cNvPr id="6" name="Google Shape;319;p38">
            <a:extLst>
              <a:ext uri="{FF2B5EF4-FFF2-40B4-BE49-F238E27FC236}">
                <a16:creationId xmlns:a16="http://schemas.microsoft.com/office/drawing/2014/main" id="{47DFBDA0-9105-6F69-3537-E46C9459A516}"/>
              </a:ext>
            </a:extLst>
          </p:cNvPr>
          <p:cNvSpPr/>
          <p:nvPr/>
        </p:nvSpPr>
        <p:spPr>
          <a:xfrm>
            <a:off x="1228981" y="3415012"/>
            <a:ext cx="1531317" cy="331050"/>
          </a:xfrm>
          <a:prstGeom prst="roundRect">
            <a:avLst>
              <a:gd name="adj" fmla="val 16667"/>
            </a:avLst>
          </a:prstGeom>
          <a:solidFill>
            <a:srgbClr val="E6FF78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DBOS Client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DB2CEDE-DA90-790C-742E-FB631512FF5A}"/>
              </a:ext>
            </a:extLst>
          </p:cNvPr>
          <p:cNvGrpSpPr/>
          <p:nvPr/>
        </p:nvGrpSpPr>
        <p:grpSpPr>
          <a:xfrm>
            <a:off x="7816274" y="1402362"/>
            <a:ext cx="3427691" cy="1087014"/>
            <a:chOff x="8345470" y="3316756"/>
            <a:chExt cx="3427691" cy="1087014"/>
          </a:xfrm>
        </p:grpSpPr>
        <p:sp>
          <p:nvSpPr>
            <p:cNvPr id="46" name="Google Shape;319;p38">
              <a:extLst>
                <a:ext uri="{FF2B5EF4-FFF2-40B4-BE49-F238E27FC236}">
                  <a16:creationId xmlns:a16="http://schemas.microsoft.com/office/drawing/2014/main" id="{C2DE8EC9-8239-E7BB-D6D1-31ADAB50CEB9}"/>
                </a:ext>
              </a:extLst>
            </p:cNvPr>
            <p:cNvSpPr/>
            <p:nvPr/>
          </p:nvSpPr>
          <p:spPr>
            <a:xfrm>
              <a:off x="8350625" y="3316756"/>
              <a:ext cx="3422536" cy="1087014"/>
            </a:xfrm>
            <a:prstGeom prst="roundRect">
              <a:avLst>
                <a:gd name="adj" fmla="val 16667"/>
              </a:avLst>
            </a:prstGeom>
            <a:solidFill>
              <a:srgbClr val="1C2726"/>
            </a:solidFill>
            <a:ln w="28575" cap="flat" cmpd="sng">
              <a:solidFill>
                <a:srgbClr val="7FBEC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endParaRPr sz="2000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A1AB3FB-49B5-C863-448B-29664851E369}"/>
                </a:ext>
              </a:extLst>
            </p:cNvPr>
            <p:cNvSpPr txBox="1"/>
            <p:nvPr/>
          </p:nvSpPr>
          <p:spPr>
            <a:xfrm>
              <a:off x="8345470" y="3474581"/>
              <a:ext cx="34139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Helvetica" panose="020B0604020202020204"/>
                  <a:cs typeface="Helvetica" panose="020B0604020202020204"/>
                </a:rPr>
                <a:t>Application Process 1</a:t>
              </a:r>
            </a:p>
          </p:txBody>
        </p:sp>
        <p:sp>
          <p:nvSpPr>
            <p:cNvPr id="51" name="Google Shape;319;p38">
              <a:extLst>
                <a:ext uri="{FF2B5EF4-FFF2-40B4-BE49-F238E27FC236}">
                  <a16:creationId xmlns:a16="http://schemas.microsoft.com/office/drawing/2014/main" id="{D2E26EB4-235B-C7B6-62F0-5E31A3827AE3}"/>
                </a:ext>
              </a:extLst>
            </p:cNvPr>
            <p:cNvSpPr/>
            <p:nvPr/>
          </p:nvSpPr>
          <p:spPr>
            <a:xfrm>
              <a:off x="8656760" y="3963742"/>
              <a:ext cx="2861465" cy="331050"/>
            </a:xfrm>
            <a:prstGeom prst="roundRect">
              <a:avLst>
                <a:gd name="adj" fmla="val 16667"/>
              </a:avLst>
            </a:prstGeom>
            <a:solidFill>
              <a:srgbClr val="E6FF78"/>
            </a:solidFill>
            <a:ln w="28575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r>
                <a:rPr lang="en-US" sz="1600" dirty="0">
                  <a:latin typeface="Helvetica" panose="020B0604020202020204"/>
                  <a:cs typeface="Helvetica" panose="020B0604020202020204"/>
                </a:rPr>
                <a:t>DBOS Library</a:t>
              </a:r>
              <a:endParaRPr sz="1600" dirty="0">
                <a:latin typeface="Helvetica" panose="020B0604020202020204"/>
                <a:cs typeface="Helvetica" panose="020B0604020202020204"/>
              </a:endParaRPr>
            </a:p>
          </p:txBody>
        </p:sp>
      </p:grpSp>
      <p:cxnSp>
        <p:nvCxnSpPr>
          <p:cNvPr id="60" name="Google Shape;320;p38">
            <a:extLst>
              <a:ext uri="{FF2B5EF4-FFF2-40B4-BE49-F238E27FC236}">
                <a16:creationId xmlns:a16="http://schemas.microsoft.com/office/drawing/2014/main" id="{853848A1-3F68-A82C-4B9B-F3236D35ACB7}"/>
              </a:ext>
            </a:extLst>
          </p:cNvPr>
          <p:cNvCxnSpPr>
            <a:cxnSpLocks/>
            <a:endCxn id="46" idx="1"/>
          </p:cNvCxnSpPr>
          <p:nvPr/>
        </p:nvCxnSpPr>
        <p:spPr>
          <a:xfrm flipV="1">
            <a:off x="6550670" y="1945869"/>
            <a:ext cx="1270759" cy="1078440"/>
          </a:xfrm>
          <a:prstGeom prst="straightConnector1">
            <a:avLst/>
          </a:prstGeom>
          <a:noFill/>
          <a:ln w="19050" cap="flat" cmpd="sng">
            <a:solidFill>
              <a:schemeClr val="bg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63" name="Google Shape;320;p38">
            <a:extLst>
              <a:ext uri="{FF2B5EF4-FFF2-40B4-BE49-F238E27FC236}">
                <a16:creationId xmlns:a16="http://schemas.microsoft.com/office/drawing/2014/main" id="{837D151B-C7BD-A61E-B94B-AEA18A608335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6550670" y="3935506"/>
            <a:ext cx="1273336" cy="1117711"/>
          </a:xfrm>
          <a:prstGeom prst="straightConnector1">
            <a:avLst/>
          </a:prstGeom>
          <a:noFill/>
          <a:ln w="19050" cap="flat" cmpd="sng">
            <a:solidFill>
              <a:schemeClr val="bg1"/>
            </a:solidFill>
            <a:prstDash val="solid"/>
            <a:miter lim="800000"/>
            <a:headEnd type="none" w="sm" len="sm"/>
            <a:tailEnd type="stealth" w="med" len="med"/>
          </a:ln>
        </p:spPr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B7518C7E-16CB-68DF-F7C6-7A2F0542B772}"/>
              </a:ext>
            </a:extLst>
          </p:cNvPr>
          <p:cNvGrpSpPr/>
          <p:nvPr/>
        </p:nvGrpSpPr>
        <p:grpSpPr>
          <a:xfrm>
            <a:off x="7818851" y="2860516"/>
            <a:ext cx="3427691" cy="1087014"/>
            <a:chOff x="8345470" y="3316756"/>
            <a:chExt cx="3427691" cy="1087014"/>
          </a:xfrm>
        </p:grpSpPr>
        <p:sp>
          <p:nvSpPr>
            <p:cNvPr id="3" name="Google Shape;319;p38">
              <a:extLst>
                <a:ext uri="{FF2B5EF4-FFF2-40B4-BE49-F238E27FC236}">
                  <a16:creationId xmlns:a16="http://schemas.microsoft.com/office/drawing/2014/main" id="{DE7918AC-56B1-40FD-989E-99A4961CBEC4}"/>
                </a:ext>
              </a:extLst>
            </p:cNvPr>
            <p:cNvSpPr/>
            <p:nvPr/>
          </p:nvSpPr>
          <p:spPr>
            <a:xfrm>
              <a:off x="8350625" y="3316756"/>
              <a:ext cx="3422536" cy="1087014"/>
            </a:xfrm>
            <a:prstGeom prst="roundRect">
              <a:avLst>
                <a:gd name="adj" fmla="val 16667"/>
              </a:avLst>
            </a:prstGeom>
            <a:solidFill>
              <a:srgbClr val="1C2726"/>
            </a:solidFill>
            <a:ln w="28575" cap="flat" cmpd="sng">
              <a:solidFill>
                <a:srgbClr val="7FBEC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endParaRPr sz="2000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64C9B10-31AB-22F3-8E88-4FC2EFFC0FD0}"/>
                </a:ext>
              </a:extLst>
            </p:cNvPr>
            <p:cNvSpPr txBox="1"/>
            <p:nvPr/>
          </p:nvSpPr>
          <p:spPr>
            <a:xfrm>
              <a:off x="8345470" y="3474581"/>
              <a:ext cx="34139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Helvetica" panose="020B0604020202020204"/>
                  <a:cs typeface="Helvetica" panose="020B0604020202020204"/>
                </a:rPr>
                <a:t>Application Process 2</a:t>
              </a:r>
            </a:p>
            <a:p>
              <a:pPr algn="ctr"/>
              <a:endPara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13" name="Google Shape;319;p38">
              <a:extLst>
                <a:ext uri="{FF2B5EF4-FFF2-40B4-BE49-F238E27FC236}">
                  <a16:creationId xmlns:a16="http://schemas.microsoft.com/office/drawing/2014/main" id="{FB72DE32-AABC-CF96-7A7B-F51AE22EBD7D}"/>
                </a:ext>
              </a:extLst>
            </p:cNvPr>
            <p:cNvSpPr/>
            <p:nvPr/>
          </p:nvSpPr>
          <p:spPr>
            <a:xfrm>
              <a:off x="8656760" y="3963742"/>
              <a:ext cx="2861465" cy="331050"/>
            </a:xfrm>
            <a:prstGeom prst="roundRect">
              <a:avLst>
                <a:gd name="adj" fmla="val 16667"/>
              </a:avLst>
            </a:prstGeom>
            <a:solidFill>
              <a:srgbClr val="E6FF78"/>
            </a:solidFill>
            <a:ln w="28575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r>
                <a:rPr lang="en-US" sz="1600" dirty="0">
                  <a:latin typeface="Helvetica" panose="020B0604020202020204"/>
                  <a:cs typeface="Helvetica" panose="020B0604020202020204"/>
                </a:rPr>
                <a:t>DBOS Library</a:t>
              </a:r>
              <a:endParaRPr sz="1600" dirty="0">
                <a:latin typeface="Helvetica" panose="020B0604020202020204"/>
                <a:cs typeface="Helvetica" panose="020B0604020202020204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9651881-608E-8B2D-7219-944CF1D2543A}"/>
              </a:ext>
            </a:extLst>
          </p:cNvPr>
          <p:cNvGrpSpPr/>
          <p:nvPr/>
        </p:nvGrpSpPr>
        <p:grpSpPr>
          <a:xfrm>
            <a:off x="7824006" y="4572226"/>
            <a:ext cx="3427691" cy="1087014"/>
            <a:chOff x="8345470" y="3316756"/>
            <a:chExt cx="3427691" cy="1087014"/>
          </a:xfrm>
        </p:grpSpPr>
        <p:sp>
          <p:nvSpPr>
            <p:cNvPr id="15" name="Google Shape;319;p38">
              <a:extLst>
                <a:ext uri="{FF2B5EF4-FFF2-40B4-BE49-F238E27FC236}">
                  <a16:creationId xmlns:a16="http://schemas.microsoft.com/office/drawing/2014/main" id="{A0DAD9D2-3D1C-D538-C655-7F8CF917DED7}"/>
                </a:ext>
              </a:extLst>
            </p:cNvPr>
            <p:cNvSpPr/>
            <p:nvPr/>
          </p:nvSpPr>
          <p:spPr>
            <a:xfrm>
              <a:off x="8350625" y="3316756"/>
              <a:ext cx="3422536" cy="1087014"/>
            </a:xfrm>
            <a:prstGeom prst="roundRect">
              <a:avLst>
                <a:gd name="adj" fmla="val 16667"/>
              </a:avLst>
            </a:prstGeom>
            <a:solidFill>
              <a:srgbClr val="1C2726"/>
            </a:solidFill>
            <a:ln w="28575" cap="flat" cmpd="sng">
              <a:solidFill>
                <a:srgbClr val="7FBEC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endParaRPr sz="2000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7AB4D70-FE89-98ED-B3B3-DECCDE1C2468}"/>
                </a:ext>
              </a:extLst>
            </p:cNvPr>
            <p:cNvSpPr txBox="1"/>
            <p:nvPr/>
          </p:nvSpPr>
          <p:spPr>
            <a:xfrm>
              <a:off x="8345470" y="3474581"/>
              <a:ext cx="34139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Helvetica" panose="020B0604020202020204"/>
                  <a:cs typeface="Helvetica" panose="020B0604020202020204"/>
                </a:rPr>
                <a:t>Application Process N</a:t>
              </a:r>
            </a:p>
            <a:p>
              <a:pPr algn="ctr"/>
              <a:endPara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17" name="Google Shape;319;p38">
              <a:extLst>
                <a:ext uri="{FF2B5EF4-FFF2-40B4-BE49-F238E27FC236}">
                  <a16:creationId xmlns:a16="http://schemas.microsoft.com/office/drawing/2014/main" id="{660A7DA4-C48A-3FE3-2002-DE6AA32FB581}"/>
                </a:ext>
              </a:extLst>
            </p:cNvPr>
            <p:cNvSpPr/>
            <p:nvPr/>
          </p:nvSpPr>
          <p:spPr>
            <a:xfrm>
              <a:off x="8656760" y="3963742"/>
              <a:ext cx="2861465" cy="331050"/>
            </a:xfrm>
            <a:prstGeom prst="roundRect">
              <a:avLst>
                <a:gd name="adj" fmla="val 16667"/>
              </a:avLst>
            </a:prstGeom>
            <a:solidFill>
              <a:srgbClr val="E6FF78"/>
            </a:solidFill>
            <a:ln w="28575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r>
                <a:rPr lang="en-US" sz="1600" dirty="0">
                  <a:latin typeface="Helvetica" panose="020B0604020202020204"/>
                  <a:cs typeface="Helvetica" panose="020B0604020202020204"/>
                </a:rPr>
                <a:t>DBOS Library</a:t>
              </a:r>
              <a:endParaRPr sz="1600" dirty="0">
                <a:latin typeface="Helvetica" panose="020B0604020202020204"/>
                <a:cs typeface="Helvetica" panose="020B0604020202020204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5625053-9F8A-EED3-4FD6-9EFC916CE53F}"/>
              </a:ext>
            </a:extLst>
          </p:cNvPr>
          <p:cNvSpPr txBox="1"/>
          <p:nvPr/>
        </p:nvSpPr>
        <p:spPr>
          <a:xfrm rot="5400000">
            <a:off x="9386166" y="3987934"/>
            <a:ext cx="51167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12916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821"/>
        </a:solidFill>
        <a:effectLst/>
      </p:bgPr>
    </p:bg>
    <p:spTree>
      <p:nvGrpSpPr>
        <p:cNvPr id="1" name="Shape 316">
          <a:extLst>
            <a:ext uri="{FF2B5EF4-FFF2-40B4-BE49-F238E27FC236}">
              <a16:creationId xmlns:a16="http://schemas.microsoft.com/office/drawing/2014/main" id="{B8F8DA46-EA02-0392-8A42-B7E66C129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19;p38">
            <a:extLst>
              <a:ext uri="{FF2B5EF4-FFF2-40B4-BE49-F238E27FC236}">
                <a16:creationId xmlns:a16="http://schemas.microsoft.com/office/drawing/2014/main" id="{6849CB8F-B081-70E1-1B9B-0CF641978FCE}"/>
              </a:ext>
            </a:extLst>
          </p:cNvPr>
          <p:cNvSpPr/>
          <p:nvPr/>
        </p:nvSpPr>
        <p:spPr>
          <a:xfrm>
            <a:off x="8454696" y="2680731"/>
            <a:ext cx="3337003" cy="1459226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81C2C4"/>
            </a:solidFill>
            <a:prstDash val="sysDash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rgbClr val="FFFFFF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EE3B3C-5DB2-7BB4-C036-54596E32E5BA}"/>
              </a:ext>
            </a:extLst>
          </p:cNvPr>
          <p:cNvSpPr txBox="1"/>
          <p:nvPr/>
        </p:nvSpPr>
        <p:spPr>
          <a:xfrm>
            <a:off x="8454694" y="3455222"/>
            <a:ext cx="3337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92DAE3"/>
                </a:solidFill>
                <a:latin typeface="Helvetica" panose="020B0604020202020204"/>
                <a:cs typeface="Helvetica" panose="020B0604020202020204"/>
              </a:rPr>
              <a:t>Out-of-band,</a:t>
            </a:r>
            <a:br>
              <a:rPr lang="en-US" i="1" dirty="0">
                <a:solidFill>
                  <a:srgbClr val="92DAE3"/>
                </a:solidFill>
                <a:latin typeface="Helvetica" panose="020B0604020202020204"/>
                <a:cs typeface="Helvetica" panose="020B0604020202020204"/>
              </a:rPr>
            </a:br>
            <a:r>
              <a:rPr lang="en-US" i="1" dirty="0">
                <a:solidFill>
                  <a:srgbClr val="92DAE3"/>
                </a:solidFill>
                <a:latin typeface="Helvetica" panose="020B0604020202020204"/>
                <a:cs typeface="Helvetica" panose="020B0604020202020204"/>
              </a:rPr>
              <a:t>No access to your database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C7321DC-3D5C-96D8-9991-9C52E7BB589D}"/>
              </a:ext>
            </a:extLst>
          </p:cNvPr>
          <p:cNvCxnSpPr>
            <a:cxnSpLocks/>
          </p:cNvCxnSpPr>
          <p:nvPr/>
        </p:nvCxnSpPr>
        <p:spPr>
          <a:xfrm>
            <a:off x="7202942" y="1694636"/>
            <a:ext cx="1265605" cy="1484263"/>
          </a:xfrm>
          <a:prstGeom prst="straightConnector1">
            <a:avLst/>
          </a:prstGeom>
          <a:ln>
            <a:solidFill>
              <a:srgbClr val="FFFFFF"/>
            </a:solidFill>
            <a:prstDash val="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1466BD0-3B44-0AE6-1EC6-47BC43161FDE}"/>
              </a:ext>
            </a:extLst>
          </p:cNvPr>
          <p:cNvCxnSpPr>
            <a:cxnSpLocks/>
            <a:endCxn id="2" idx="1"/>
          </p:cNvCxnSpPr>
          <p:nvPr/>
        </p:nvCxnSpPr>
        <p:spPr>
          <a:xfrm flipV="1">
            <a:off x="7181012" y="3410344"/>
            <a:ext cx="1273684" cy="6936"/>
          </a:xfrm>
          <a:prstGeom prst="straightConnector1">
            <a:avLst/>
          </a:prstGeom>
          <a:ln>
            <a:solidFill>
              <a:srgbClr val="FFFFFF"/>
            </a:solidFill>
            <a:prstDash val="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AB8813A-A4A4-0FCE-CEE0-990B9E5D83AD}"/>
              </a:ext>
            </a:extLst>
          </p:cNvPr>
          <p:cNvCxnSpPr>
            <a:cxnSpLocks/>
            <a:stCxn id="56" idx="3"/>
          </p:cNvCxnSpPr>
          <p:nvPr/>
        </p:nvCxnSpPr>
        <p:spPr>
          <a:xfrm flipV="1">
            <a:off x="7181012" y="4035549"/>
            <a:ext cx="1261820" cy="954606"/>
          </a:xfrm>
          <a:prstGeom prst="straightConnector1">
            <a:avLst/>
          </a:prstGeom>
          <a:ln>
            <a:solidFill>
              <a:srgbClr val="FFFFFF"/>
            </a:solidFill>
            <a:prstDash val="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Google Shape;319;p38">
            <a:extLst>
              <a:ext uri="{FF2B5EF4-FFF2-40B4-BE49-F238E27FC236}">
                <a16:creationId xmlns:a16="http://schemas.microsoft.com/office/drawing/2014/main" id="{56053A7E-1B0A-80B8-6305-C314C723530B}"/>
              </a:ext>
            </a:extLst>
          </p:cNvPr>
          <p:cNvSpPr/>
          <p:nvPr/>
        </p:nvSpPr>
        <p:spPr>
          <a:xfrm>
            <a:off x="285954" y="2653854"/>
            <a:ext cx="2185624" cy="1550292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7FBE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6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E86B3E-3DFA-61A7-71BF-07F1BEA98EC4}"/>
              </a:ext>
            </a:extLst>
          </p:cNvPr>
          <p:cNvSpPr txBox="1"/>
          <p:nvPr/>
        </p:nvSpPr>
        <p:spPr>
          <a:xfrm>
            <a:off x="263701" y="2792616"/>
            <a:ext cx="2165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Postgres</a:t>
            </a:r>
          </a:p>
        </p:txBody>
      </p:sp>
      <p:sp>
        <p:nvSpPr>
          <p:cNvPr id="12" name="Google Shape;319;p38">
            <a:extLst>
              <a:ext uri="{FF2B5EF4-FFF2-40B4-BE49-F238E27FC236}">
                <a16:creationId xmlns:a16="http://schemas.microsoft.com/office/drawing/2014/main" id="{152A53D1-1147-D416-28B3-FB3CB70FB069}"/>
              </a:ext>
            </a:extLst>
          </p:cNvPr>
          <p:cNvSpPr/>
          <p:nvPr/>
        </p:nvSpPr>
        <p:spPr>
          <a:xfrm>
            <a:off x="579176" y="3249402"/>
            <a:ext cx="1639523" cy="703310"/>
          </a:xfrm>
          <a:prstGeom prst="roundRect">
            <a:avLst>
              <a:gd name="adj" fmla="val 16667"/>
            </a:avLst>
          </a:prstGeom>
          <a:solidFill>
            <a:srgbClr val="E6FF78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DBOS Tables</a:t>
            </a:r>
            <a:endParaRPr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4" name="Google Shape;320;p38">
            <a:extLst>
              <a:ext uri="{FF2B5EF4-FFF2-40B4-BE49-F238E27FC236}">
                <a16:creationId xmlns:a16="http://schemas.microsoft.com/office/drawing/2014/main" id="{10E7BEDC-9CA2-AEA7-613A-6C519321EA40}"/>
              </a:ext>
            </a:extLst>
          </p:cNvPr>
          <p:cNvCxnSpPr>
            <a:cxnSpLocks/>
          </p:cNvCxnSpPr>
          <p:nvPr/>
        </p:nvCxnSpPr>
        <p:spPr>
          <a:xfrm flipV="1">
            <a:off x="2471578" y="3429560"/>
            <a:ext cx="1301905" cy="7270"/>
          </a:xfrm>
          <a:prstGeom prst="straightConnector1">
            <a:avLst/>
          </a:prstGeom>
          <a:noFill/>
          <a:ln w="19050" cap="flat" cmpd="sng">
            <a:solidFill>
              <a:schemeClr val="bg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22" name="Google Shape;363;p40">
            <a:extLst>
              <a:ext uri="{FF2B5EF4-FFF2-40B4-BE49-F238E27FC236}">
                <a16:creationId xmlns:a16="http://schemas.microsoft.com/office/drawing/2014/main" id="{7761CF3E-DE76-E61D-190E-A8640CDA2E18}"/>
              </a:ext>
            </a:extLst>
          </p:cNvPr>
          <p:cNvSpPr txBox="1"/>
          <p:nvPr/>
        </p:nvSpPr>
        <p:spPr>
          <a:xfrm>
            <a:off x="2524835" y="2738371"/>
            <a:ext cx="1301905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700" dirty="0">
                <a:solidFill>
                  <a:schemeClr val="bg1"/>
                </a:solidFill>
                <a:latin typeface="Helvetica" panose="020B0604020202020204" pitchFamily="34" charset="0"/>
                <a:ea typeface="IBM Plex Sans"/>
                <a:cs typeface="Helvetica" panose="020B0604020202020204" pitchFamily="34" charset="0"/>
                <a:sym typeface="IBM Plex Sans"/>
              </a:rPr>
              <a:t>Dequeues</a:t>
            </a:r>
          </a:p>
          <a:p>
            <a:r>
              <a:rPr lang="en" sz="1700" dirty="0">
                <a:solidFill>
                  <a:schemeClr val="bg1"/>
                </a:solidFill>
                <a:latin typeface="Helvetica" panose="020B0604020202020204" pitchFamily="34" charset="0"/>
                <a:ea typeface="IBM Plex Sans"/>
                <a:cs typeface="Helvetica" panose="020B0604020202020204" pitchFamily="34" charset="0"/>
                <a:sym typeface="IBM Plex Sans"/>
              </a:rPr>
              <a:t>Worklows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092477E-3859-47DF-F907-424DFB184B0C}"/>
              </a:ext>
            </a:extLst>
          </p:cNvPr>
          <p:cNvGrpSpPr/>
          <p:nvPr/>
        </p:nvGrpSpPr>
        <p:grpSpPr>
          <a:xfrm>
            <a:off x="3759294" y="1160625"/>
            <a:ext cx="3427691" cy="1087014"/>
            <a:chOff x="8345470" y="3316756"/>
            <a:chExt cx="3427691" cy="1087014"/>
          </a:xfrm>
        </p:grpSpPr>
        <p:sp>
          <p:nvSpPr>
            <p:cNvPr id="25" name="Google Shape;319;p38">
              <a:extLst>
                <a:ext uri="{FF2B5EF4-FFF2-40B4-BE49-F238E27FC236}">
                  <a16:creationId xmlns:a16="http://schemas.microsoft.com/office/drawing/2014/main" id="{5BEE1D53-2781-B529-73EE-CE27FCED90FA}"/>
                </a:ext>
              </a:extLst>
            </p:cNvPr>
            <p:cNvSpPr/>
            <p:nvPr/>
          </p:nvSpPr>
          <p:spPr>
            <a:xfrm>
              <a:off x="8350625" y="3316756"/>
              <a:ext cx="3422536" cy="1087014"/>
            </a:xfrm>
            <a:prstGeom prst="roundRect">
              <a:avLst>
                <a:gd name="adj" fmla="val 16667"/>
              </a:avLst>
            </a:prstGeom>
            <a:solidFill>
              <a:srgbClr val="1C2726"/>
            </a:solidFill>
            <a:ln w="28575" cap="flat" cmpd="sng">
              <a:solidFill>
                <a:srgbClr val="7FBEC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endParaRPr sz="2000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C67EF12-A245-481B-85E7-F92676039B49}"/>
                </a:ext>
              </a:extLst>
            </p:cNvPr>
            <p:cNvSpPr txBox="1"/>
            <p:nvPr/>
          </p:nvSpPr>
          <p:spPr>
            <a:xfrm>
              <a:off x="8345470" y="3474581"/>
              <a:ext cx="34139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Helvetica" panose="020B0604020202020204"/>
                  <a:cs typeface="Helvetica" panose="020B0604020202020204"/>
                </a:rPr>
                <a:t>Application Process 1</a:t>
              </a:r>
            </a:p>
            <a:p>
              <a:pPr algn="ctr"/>
              <a:endPara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32" name="Google Shape;319;p38">
              <a:extLst>
                <a:ext uri="{FF2B5EF4-FFF2-40B4-BE49-F238E27FC236}">
                  <a16:creationId xmlns:a16="http://schemas.microsoft.com/office/drawing/2014/main" id="{65D4BC03-E942-8E93-F988-0A2BC67D5AB6}"/>
                </a:ext>
              </a:extLst>
            </p:cNvPr>
            <p:cNvSpPr/>
            <p:nvPr/>
          </p:nvSpPr>
          <p:spPr>
            <a:xfrm>
              <a:off x="8656760" y="3963742"/>
              <a:ext cx="2861465" cy="331050"/>
            </a:xfrm>
            <a:prstGeom prst="roundRect">
              <a:avLst>
                <a:gd name="adj" fmla="val 16667"/>
              </a:avLst>
            </a:prstGeom>
            <a:solidFill>
              <a:srgbClr val="E6FF78"/>
            </a:solidFill>
            <a:ln w="28575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r>
                <a:rPr lang="en-US" sz="1600" dirty="0">
                  <a:latin typeface="Helvetica" panose="020B0604020202020204"/>
                  <a:cs typeface="Helvetica" panose="020B0604020202020204"/>
                </a:rPr>
                <a:t>DBOS Library</a:t>
              </a:r>
              <a:endParaRPr sz="1600" dirty="0">
                <a:latin typeface="Helvetica" panose="020B0604020202020204"/>
                <a:cs typeface="Helvetica" panose="020B0604020202020204"/>
              </a:endParaRPr>
            </a:p>
          </p:txBody>
        </p:sp>
      </p:grpSp>
      <p:cxnSp>
        <p:nvCxnSpPr>
          <p:cNvPr id="34" name="Google Shape;320;p38">
            <a:extLst>
              <a:ext uri="{FF2B5EF4-FFF2-40B4-BE49-F238E27FC236}">
                <a16:creationId xmlns:a16="http://schemas.microsoft.com/office/drawing/2014/main" id="{62174860-FC62-EE70-790F-713F07668FF0}"/>
              </a:ext>
            </a:extLst>
          </p:cNvPr>
          <p:cNvCxnSpPr>
            <a:cxnSpLocks/>
          </p:cNvCxnSpPr>
          <p:nvPr/>
        </p:nvCxnSpPr>
        <p:spPr>
          <a:xfrm flipV="1">
            <a:off x="2493690" y="1611799"/>
            <a:ext cx="1265605" cy="1412510"/>
          </a:xfrm>
          <a:prstGeom prst="straightConnector1">
            <a:avLst/>
          </a:prstGeom>
          <a:noFill/>
          <a:ln w="19050" cap="flat" cmpd="sng">
            <a:solidFill>
              <a:schemeClr val="bg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35" name="Google Shape;320;p38">
            <a:extLst>
              <a:ext uri="{FF2B5EF4-FFF2-40B4-BE49-F238E27FC236}">
                <a16:creationId xmlns:a16="http://schemas.microsoft.com/office/drawing/2014/main" id="{D4AC1222-B0B0-D041-257A-14F3CCD6D62A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2493690" y="3952712"/>
            <a:ext cx="1273336" cy="1037443"/>
          </a:xfrm>
          <a:prstGeom prst="straightConnector1">
            <a:avLst/>
          </a:prstGeom>
          <a:noFill/>
          <a:ln w="19050" cap="flat" cmpd="sng">
            <a:solidFill>
              <a:schemeClr val="bg1"/>
            </a:solidFill>
            <a:prstDash val="solid"/>
            <a:miter lim="800000"/>
            <a:headEnd type="none" w="sm" len="sm"/>
            <a:tailEnd type="stealth" w="med" len="med"/>
          </a:ln>
        </p:spPr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1367670-7FE6-ECB8-1236-68E6CA08B863}"/>
              </a:ext>
            </a:extLst>
          </p:cNvPr>
          <p:cNvGrpSpPr/>
          <p:nvPr/>
        </p:nvGrpSpPr>
        <p:grpSpPr>
          <a:xfrm>
            <a:off x="3761871" y="2807959"/>
            <a:ext cx="3427691" cy="1087014"/>
            <a:chOff x="8345470" y="3316756"/>
            <a:chExt cx="3427691" cy="1087014"/>
          </a:xfrm>
        </p:grpSpPr>
        <p:sp>
          <p:nvSpPr>
            <p:cNvPr id="49" name="Google Shape;319;p38">
              <a:extLst>
                <a:ext uri="{FF2B5EF4-FFF2-40B4-BE49-F238E27FC236}">
                  <a16:creationId xmlns:a16="http://schemas.microsoft.com/office/drawing/2014/main" id="{BA690736-E424-F455-4C23-C2FE35249343}"/>
                </a:ext>
              </a:extLst>
            </p:cNvPr>
            <p:cNvSpPr/>
            <p:nvPr/>
          </p:nvSpPr>
          <p:spPr>
            <a:xfrm>
              <a:off x="8350625" y="3316756"/>
              <a:ext cx="3422536" cy="1087014"/>
            </a:xfrm>
            <a:prstGeom prst="roundRect">
              <a:avLst>
                <a:gd name="adj" fmla="val 16667"/>
              </a:avLst>
            </a:prstGeom>
            <a:solidFill>
              <a:srgbClr val="1C2726"/>
            </a:solidFill>
            <a:ln w="28575" cap="flat" cmpd="sng">
              <a:solidFill>
                <a:srgbClr val="7FBEC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endParaRPr sz="2000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0CDB3BC-D0AC-F8F7-8191-8647037F54C0}"/>
                </a:ext>
              </a:extLst>
            </p:cNvPr>
            <p:cNvSpPr txBox="1"/>
            <p:nvPr/>
          </p:nvSpPr>
          <p:spPr>
            <a:xfrm>
              <a:off x="8345470" y="3474581"/>
              <a:ext cx="34139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Helvetica" panose="020B0604020202020204"/>
                  <a:cs typeface="Helvetica" panose="020B0604020202020204"/>
                </a:rPr>
                <a:t>Application Process 2</a:t>
              </a:r>
            </a:p>
            <a:p>
              <a:pPr algn="ctr"/>
              <a:endPara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52" name="Google Shape;319;p38">
              <a:extLst>
                <a:ext uri="{FF2B5EF4-FFF2-40B4-BE49-F238E27FC236}">
                  <a16:creationId xmlns:a16="http://schemas.microsoft.com/office/drawing/2014/main" id="{BA3FE0A4-7120-C81D-004A-E39572345279}"/>
                </a:ext>
              </a:extLst>
            </p:cNvPr>
            <p:cNvSpPr/>
            <p:nvPr/>
          </p:nvSpPr>
          <p:spPr>
            <a:xfrm>
              <a:off x="8656760" y="3963742"/>
              <a:ext cx="2861465" cy="331050"/>
            </a:xfrm>
            <a:prstGeom prst="roundRect">
              <a:avLst>
                <a:gd name="adj" fmla="val 16667"/>
              </a:avLst>
            </a:prstGeom>
            <a:solidFill>
              <a:srgbClr val="E6FF78"/>
            </a:solidFill>
            <a:ln w="28575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r>
                <a:rPr lang="en-US" sz="1600" dirty="0">
                  <a:latin typeface="Helvetica" panose="020B0604020202020204"/>
                  <a:cs typeface="Helvetica" panose="020B0604020202020204"/>
                </a:rPr>
                <a:t>DBOS Library</a:t>
              </a:r>
              <a:endParaRPr sz="1600" dirty="0">
                <a:latin typeface="Helvetica" panose="020B0604020202020204"/>
                <a:cs typeface="Helvetica" panose="020B0604020202020204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3A22B72-F106-FA38-D8DE-B3F7F5D930DD}"/>
              </a:ext>
            </a:extLst>
          </p:cNvPr>
          <p:cNvGrpSpPr/>
          <p:nvPr/>
        </p:nvGrpSpPr>
        <p:grpSpPr>
          <a:xfrm>
            <a:off x="3767026" y="4509164"/>
            <a:ext cx="3427691" cy="1087014"/>
            <a:chOff x="8345470" y="3316756"/>
            <a:chExt cx="3427691" cy="1087014"/>
          </a:xfrm>
        </p:grpSpPr>
        <p:sp>
          <p:nvSpPr>
            <p:cNvPr id="55" name="Google Shape;319;p38">
              <a:extLst>
                <a:ext uri="{FF2B5EF4-FFF2-40B4-BE49-F238E27FC236}">
                  <a16:creationId xmlns:a16="http://schemas.microsoft.com/office/drawing/2014/main" id="{19264E49-0043-4C6F-0910-CF5989504126}"/>
                </a:ext>
              </a:extLst>
            </p:cNvPr>
            <p:cNvSpPr/>
            <p:nvPr/>
          </p:nvSpPr>
          <p:spPr>
            <a:xfrm>
              <a:off x="8350625" y="3316756"/>
              <a:ext cx="3422536" cy="1087014"/>
            </a:xfrm>
            <a:prstGeom prst="roundRect">
              <a:avLst>
                <a:gd name="adj" fmla="val 16667"/>
              </a:avLst>
            </a:prstGeom>
            <a:solidFill>
              <a:srgbClr val="1C2726"/>
            </a:solidFill>
            <a:ln w="28575" cap="flat" cmpd="sng">
              <a:solidFill>
                <a:srgbClr val="7FBEC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endParaRPr sz="2000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E635420-791F-6D3C-8140-144032FA3D44}"/>
                </a:ext>
              </a:extLst>
            </p:cNvPr>
            <p:cNvSpPr txBox="1"/>
            <p:nvPr/>
          </p:nvSpPr>
          <p:spPr>
            <a:xfrm>
              <a:off x="8345470" y="3474581"/>
              <a:ext cx="34139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Helvetica" panose="020B0604020202020204"/>
                  <a:cs typeface="Helvetica" panose="020B0604020202020204"/>
                </a:rPr>
                <a:t>Application Process N</a:t>
              </a:r>
            </a:p>
            <a:p>
              <a:pPr algn="ctr"/>
              <a:endPara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57" name="Google Shape;319;p38">
              <a:extLst>
                <a:ext uri="{FF2B5EF4-FFF2-40B4-BE49-F238E27FC236}">
                  <a16:creationId xmlns:a16="http://schemas.microsoft.com/office/drawing/2014/main" id="{91BEDB4D-88EC-8252-C274-2FBBDD486AB2}"/>
                </a:ext>
              </a:extLst>
            </p:cNvPr>
            <p:cNvSpPr/>
            <p:nvPr/>
          </p:nvSpPr>
          <p:spPr>
            <a:xfrm>
              <a:off x="8656760" y="3963742"/>
              <a:ext cx="2861465" cy="331050"/>
            </a:xfrm>
            <a:prstGeom prst="roundRect">
              <a:avLst>
                <a:gd name="adj" fmla="val 16667"/>
              </a:avLst>
            </a:prstGeom>
            <a:solidFill>
              <a:srgbClr val="E6FF78"/>
            </a:solidFill>
            <a:ln w="28575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r>
                <a:rPr lang="en-US" sz="1600" dirty="0">
                  <a:latin typeface="Helvetica" panose="020B0604020202020204"/>
                  <a:cs typeface="Helvetica" panose="020B0604020202020204"/>
                </a:rPr>
                <a:t>DBOS Library</a:t>
              </a:r>
              <a:endParaRPr sz="1600" dirty="0">
                <a:latin typeface="Helvetica" panose="020B0604020202020204"/>
                <a:cs typeface="Helvetica" panose="020B0604020202020204"/>
              </a:endParaRPr>
            </a:p>
          </p:txBody>
        </p:sp>
      </p:grpSp>
      <p:sp>
        <p:nvSpPr>
          <p:cNvPr id="58" name="Google Shape;319;p38">
            <a:extLst>
              <a:ext uri="{FF2B5EF4-FFF2-40B4-BE49-F238E27FC236}">
                <a16:creationId xmlns:a16="http://schemas.microsoft.com/office/drawing/2014/main" id="{B4769BB5-F282-46C7-229D-6F89E8F83015}"/>
              </a:ext>
            </a:extLst>
          </p:cNvPr>
          <p:cNvSpPr/>
          <p:nvPr/>
        </p:nvSpPr>
        <p:spPr>
          <a:xfrm>
            <a:off x="8809206" y="2886017"/>
            <a:ext cx="2627981" cy="573562"/>
          </a:xfrm>
          <a:prstGeom prst="roundRect">
            <a:avLst>
              <a:gd name="adj" fmla="val 16667"/>
            </a:avLst>
          </a:prstGeom>
          <a:solidFill>
            <a:srgbClr val="E6FF78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DBOS Conductor</a:t>
            </a:r>
          </a:p>
        </p:txBody>
      </p:sp>
      <p:sp>
        <p:nvSpPr>
          <p:cNvPr id="59" name="Google Shape;363;p40">
            <a:extLst>
              <a:ext uri="{FF2B5EF4-FFF2-40B4-BE49-F238E27FC236}">
                <a16:creationId xmlns:a16="http://schemas.microsoft.com/office/drawing/2014/main" id="{B59E6BB5-255A-3663-E605-6420B6B6030B}"/>
              </a:ext>
            </a:extLst>
          </p:cNvPr>
          <p:cNvSpPr txBox="1"/>
          <p:nvPr/>
        </p:nvSpPr>
        <p:spPr>
          <a:xfrm>
            <a:off x="7155275" y="2732218"/>
            <a:ext cx="1421668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700" dirty="0">
                <a:solidFill>
                  <a:schemeClr val="bg1"/>
                </a:solidFill>
                <a:latin typeface="Helvetica" panose="020B0604020202020204" pitchFamily="34" charset="0"/>
                <a:ea typeface="IBM Plex Sans"/>
                <a:cs typeface="Helvetica" panose="020B0604020202020204" pitchFamily="34" charset="0"/>
                <a:sym typeface="IBM Plex Sans"/>
              </a:rPr>
              <a:t>Secure WebSocket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D4FE23-DE4E-C0A0-4186-5D5CD415BB49}"/>
              </a:ext>
            </a:extLst>
          </p:cNvPr>
          <p:cNvSpPr txBox="1"/>
          <p:nvPr/>
        </p:nvSpPr>
        <p:spPr>
          <a:xfrm rot="5400000">
            <a:off x="5396090" y="3906291"/>
            <a:ext cx="51167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28261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821"/>
        </a:solidFill>
        <a:effectLst/>
      </p:bgPr>
    </p:bg>
    <p:spTree>
      <p:nvGrpSpPr>
        <p:cNvPr id="1" name="Shape 316">
          <a:extLst>
            <a:ext uri="{FF2B5EF4-FFF2-40B4-BE49-F238E27FC236}">
              <a16:creationId xmlns:a16="http://schemas.microsoft.com/office/drawing/2014/main" id="{3EF7409F-8A08-F1DA-34DD-B9E4233AB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19;p38">
            <a:extLst>
              <a:ext uri="{FF2B5EF4-FFF2-40B4-BE49-F238E27FC236}">
                <a16:creationId xmlns:a16="http://schemas.microsoft.com/office/drawing/2014/main" id="{D6CACA94-21D0-8171-18D2-D9481527E959}"/>
              </a:ext>
            </a:extLst>
          </p:cNvPr>
          <p:cNvSpPr/>
          <p:nvPr/>
        </p:nvSpPr>
        <p:spPr>
          <a:xfrm>
            <a:off x="1391555" y="2688525"/>
            <a:ext cx="2377440" cy="1299257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9FECF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" name="Google Shape;319;p38">
            <a:extLst>
              <a:ext uri="{FF2B5EF4-FFF2-40B4-BE49-F238E27FC236}">
                <a16:creationId xmlns:a16="http://schemas.microsoft.com/office/drawing/2014/main" id="{9C6F23AD-2424-4D16-13E4-0F5A09F5C759}"/>
              </a:ext>
            </a:extLst>
          </p:cNvPr>
          <p:cNvSpPr/>
          <p:nvPr/>
        </p:nvSpPr>
        <p:spPr>
          <a:xfrm>
            <a:off x="4711834" y="2149852"/>
            <a:ext cx="2377440" cy="2377440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CAE16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7" name="Google Shape;319;p38">
            <a:extLst>
              <a:ext uri="{FF2B5EF4-FFF2-40B4-BE49-F238E27FC236}">
                <a16:creationId xmlns:a16="http://schemas.microsoft.com/office/drawing/2014/main" id="{748CAB5E-53D1-399F-BE09-FFEAFF3F5633}"/>
              </a:ext>
            </a:extLst>
          </p:cNvPr>
          <p:cNvSpPr/>
          <p:nvPr/>
        </p:nvSpPr>
        <p:spPr>
          <a:xfrm>
            <a:off x="8104856" y="893491"/>
            <a:ext cx="2377440" cy="1299258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9FECF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8" name="Google Shape;319;p38">
            <a:extLst>
              <a:ext uri="{FF2B5EF4-FFF2-40B4-BE49-F238E27FC236}">
                <a16:creationId xmlns:a16="http://schemas.microsoft.com/office/drawing/2014/main" id="{884620CD-6C28-25FB-9F5A-5066750282D2}"/>
              </a:ext>
            </a:extLst>
          </p:cNvPr>
          <p:cNvSpPr/>
          <p:nvPr/>
        </p:nvSpPr>
        <p:spPr>
          <a:xfrm>
            <a:off x="4267211" y="4819522"/>
            <a:ext cx="1503641" cy="972377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CAE16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86DEF3-8AB9-BD9C-CD4B-F4ABBE997637}"/>
              </a:ext>
            </a:extLst>
          </p:cNvPr>
          <p:cNvSpPr txBox="1"/>
          <p:nvPr/>
        </p:nvSpPr>
        <p:spPr>
          <a:xfrm>
            <a:off x="4751325" y="2395589"/>
            <a:ext cx="237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Temporal Server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80F3CA-2BEF-1692-4F9C-E2DD9C33B1EC}"/>
              </a:ext>
            </a:extLst>
          </p:cNvPr>
          <p:cNvSpPr txBox="1"/>
          <p:nvPr/>
        </p:nvSpPr>
        <p:spPr>
          <a:xfrm>
            <a:off x="4267200" y="4956771"/>
            <a:ext cx="1503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Cassandra Data Store</a:t>
            </a:r>
          </a:p>
        </p:txBody>
      </p:sp>
      <p:sp>
        <p:nvSpPr>
          <p:cNvPr id="33" name="Google Shape;319;p38">
            <a:extLst>
              <a:ext uri="{FF2B5EF4-FFF2-40B4-BE49-F238E27FC236}">
                <a16:creationId xmlns:a16="http://schemas.microsoft.com/office/drawing/2014/main" id="{D8C862D9-5CA4-D067-3E1B-5F557B81AC4F}"/>
              </a:ext>
            </a:extLst>
          </p:cNvPr>
          <p:cNvSpPr/>
          <p:nvPr/>
        </p:nvSpPr>
        <p:spPr>
          <a:xfrm>
            <a:off x="5103399" y="2867161"/>
            <a:ext cx="1608132" cy="502625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Workflow Orchestration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4" name="Google Shape;319;p38">
            <a:extLst>
              <a:ext uri="{FF2B5EF4-FFF2-40B4-BE49-F238E27FC236}">
                <a16:creationId xmlns:a16="http://schemas.microsoft.com/office/drawing/2014/main" id="{C94D98B6-11F6-181D-56C0-EC5B6734031B}"/>
              </a:ext>
            </a:extLst>
          </p:cNvPr>
          <p:cNvSpPr/>
          <p:nvPr/>
        </p:nvSpPr>
        <p:spPr>
          <a:xfrm>
            <a:off x="5103399" y="3502944"/>
            <a:ext cx="1608132" cy="331050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Queues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5" name="Google Shape;319;p38">
            <a:extLst>
              <a:ext uri="{FF2B5EF4-FFF2-40B4-BE49-F238E27FC236}">
                <a16:creationId xmlns:a16="http://schemas.microsoft.com/office/drawing/2014/main" id="{0FE1F2C1-B3E3-4168-8F38-1CE65783F369}"/>
              </a:ext>
            </a:extLst>
          </p:cNvPr>
          <p:cNvSpPr/>
          <p:nvPr/>
        </p:nvSpPr>
        <p:spPr>
          <a:xfrm>
            <a:off x="5103399" y="3967151"/>
            <a:ext cx="1608132" cy="331050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Messaging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3A58AB6-BBDF-F0AE-C851-AB5ACC4B848F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5019032" y="4539945"/>
            <a:ext cx="0" cy="279577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B8C11F4-D59E-DED4-D7C5-01A152446C20}"/>
              </a:ext>
            </a:extLst>
          </p:cNvPr>
          <p:cNvCxnSpPr>
            <a:cxnSpLocks/>
            <a:stCxn id="2" idx="1"/>
            <a:endCxn id="3" idx="3"/>
          </p:cNvCxnSpPr>
          <p:nvPr/>
        </p:nvCxnSpPr>
        <p:spPr>
          <a:xfrm flipH="1" flipV="1">
            <a:off x="3768995" y="3338154"/>
            <a:ext cx="942839" cy="418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E94C2B4-82E1-4568-FD0D-76D35FF7518F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7103096" y="1543120"/>
            <a:ext cx="1001760" cy="1260469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Google Shape;319;p38">
            <a:extLst>
              <a:ext uri="{FF2B5EF4-FFF2-40B4-BE49-F238E27FC236}">
                <a16:creationId xmlns:a16="http://schemas.microsoft.com/office/drawing/2014/main" id="{98EBC5C5-60E8-329B-B1C3-0D9AE2628458}"/>
              </a:ext>
            </a:extLst>
          </p:cNvPr>
          <p:cNvSpPr/>
          <p:nvPr/>
        </p:nvSpPr>
        <p:spPr>
          <a:xfrm>
            <a:off x="5896306" y="4806869"/>
            <a:ext cx="1591822" cy="985030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CAE16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63EAB9-F478-D6F3-A0B5-D647C1881F78}"/>
              </a:ext>
            </a:extLst>
          </p:cNvPr>
          <p:cNvSpPr txBox="1"/>
          <p:nvPr/>
        </p:nvSpPr>
        <p:spPr>
          <a:xfrm>
            <a:off x="5896302" y="4967310"/>
            <a:ext cx="1591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Elasticsearch Data Store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561A12A-4033-8976-6509-0EA65E00DA20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6692216" y="4539945"/>
            <a:ext cx="1" cy="266924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0D7621A-91AF-BFB4-F459-67A637A159E7}"/>
              </a:ext>
            </a:extLst>
          </p:cNvPr>
          <p:cNvSpPr txBox="1"/>
          <p:nvPr/>
        </p:nvSpPr>
        <p:spPr>
          <a:xfrm>
            <a:off x="8299780" y="1040394"/>
            <a:ext cx="1989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Temporal Worker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6CEC13-4269-01BB-5124-0EAB9CCC7BFF}"/>
              </a:ext>
            </a:extLst>
          </p:cNvPr>
          <p:cNvSpPr txBox="1"/>
          <p:nvPr/>
        </p:nvSpPr>
        <p:spPr>
          <a:xfrm>
            <a:off x="1361281" y="2803589"/>
            <a:ext cx="242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API Server</a:t>
            </a:r>
          </a:p>
        </p:txBody>
      </p:sp>
      <p:sp>
        <p:nvSpPr>
          <p:cNvPr id="29" name="Google Shape;319;p38">
            <a:extLst>
              <a:ext uri="{FF2B5EF4-FFF2-40B4-BE49-F238E27FC236}">
                <a16:creationId xmlns:a16="http://schemas.microsoft.com/office/drawing/2014/main" id="{EED33646-BDEE-8072-C269-F065EF276D61}"/>
              </a:ext>
            </a:extLst>
          </p:cNvPr>
          <p:cNvSpPr/>
          <p:nvPr/>
        </p:nvSpPr>
        <p:spPr>
          <a:xfrm>
            <a:off x="1694058" y="3268384"/>
            <a:ext cx="1759062" cy="551497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Temporal Client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0" name="Google Shape;319;p38">
            <a:extLst>
              <a:ext uri="{FF2B5EF4-FFF2-40B4-BE49-F238E27FC236}">
                <a16:creationId xmlns:a16="http://schemas.microsoft.com/office/drawing/2014/main" id="{69B810E8-8786-8903-FF83-8B5256A9A16A}"/>
              </a:ext>
            </a:extLst>
          </p:cNvPr>
          <p:cNvSpPr/>
          <p:nvPr/>
        </p:nvSpPr>
        <p:spPr>
          <a:xfrm>
            <a:off x="8449527" y="1521617"/>
            <a:ext cx="1688098" cy="502625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Temporal SDK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5" name="Google Shape;319;p38">
            <a:extLst>
              <a:ext uri="{FF2B5EF4-FFF2-40B4-BE49-F238E27FC236}">
                <a16:creationId xmlns:a16="http://schemas.microsoft.com/office/drawing/2014/main" id="{8D0183E9-3BF2-2F0A-1F08-14B98853D2D4}"/>
              </a:ext>
            </a:extLst>
          </p:cNvPr>
          <p:cNvSpPr/>
          <p:nvPr/>
        </p:nvSpPr>
        <p:spPr>
          <a:xfrm>
            <a:off x="8104856" y="2686350"/>
            <a:ext cx="2377440" cy="1299258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9FECF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61795A-C885-6744-8C5A-EF3502234F49}"/>
              </a:ext>
            </a:extLst>
          </p:cNvPr>
          <p:cNvSpPr txBox="1"/>
          <p:nvPr/>
        </p:nvSpPr>
        <p:spPr>
          <a:xfrm>
            <a:off x="8299780" y="2826627"/>
            <a:ext cx="1989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Temporal Worker</a:t>
            </a:r>
          </a:p>
        </p:txBody>
      </p:sp>
      <p:sp>
        <p:nvSpPr>
          <p:cNvPr id="18" name="Google Shape;319;p38">
            <a:extLst>
              <a:ext uri="{FF2B5EF4-FFF2-40B4-BE49-F238E27FC236}">
                <a16:creationId xmlns:a16="http://schemas.microsoft.com/office/drawing/2014/main" id="{1D065923-A0AB-1213-180E-D93B7948AA24}"/>
              </a:ext>
            </a:extLst>
          </p:cNvPr>
          <p:cNvSpPr/>
          <p:nvPr/>
        </p:nvSpPr>
        <p:spPr>
          <a:xfrm>
            <a:off x="8449527" y="3314476"/>
            <a:ext cx="1688098" cy="502625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Temporal SDK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1" name="Google Shape;319;p38">
            <a:extLst>
              <a:ext uri="{FF2B5EF4-FFF2-40B4-BE49-F238E27FC236}">
                <a16:creationId xmlns:a16="http://schemas.microsoft.com/office/drawing/2014/main" id="{0BE6E994-F1CB-9AF2-9134-106851F821EF}"/>
              </a:ext>
            </a:extLst>
          </p:cNvPr>
          <p:cNvSpPr/>
          <p:nvPr/>
        </p:nvSpPr>
        <p:spPr>
          <a:xfrm>
            <a:off x="8104856" y="4479209"/>
            <a:ext cx="2377440" cy="1299258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9FECF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016DC2-8F4B-B3FB-E98F-567C219BE929}"/>
              </a:ext>
            </a:extLst>
          </p:cNvPr>
          <p:cNvSpPr txBox="1"/>
          <p:nvPr/>
        </p:nvSpPr>
        <p:spPr>
          <a:xfrm>
            <a:off x="8299780" y="4622203"/>
            <a:ext cx="1989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Temporal Worker</a:t>
            </a:r>
          </a:p>
        </p:txBody>
      </p:sp>
      <p:sp>
        <p:nvSpPr>
          <p:cNvPr id="25" name="Google Shape;319;p38">
            <a:extLst>
              <a:ext uri="{FF2B5EF4-FFF2-40B4-BE49-F238E27FC236}">
                <a16:creationId xmlns:a16="http://schemas.microsoft.com/office/drawing/2014/main" id="{F0B17A5F-71B2-9D13-8FB4-FA407466E093}"/>
              </a:ext>
            </a:extLst>
          </p:cNvPr>
          <p:cNvSpPr/>
          <p:nvPr/>
        </p:nvSpPr>
        <p:spPr>
          <a:xfrm>
            <a:off x="8449527" y="5107335"/>
            <a:ext cx="1688098" cy="502625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Temporal SDK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A8A62B6-2D9B-701A-FD57-F6C9FE4AA2CD}"/>
              </a:ext>
            </a:extLst>
          </p:cNvPr>
          <p:cNvCxnSpPr>
            <a:cxnSpLocks/>
            <a:stCxn id="2" idx="3"/>
            <a:endCxn id="15" idx="1"/>
          </p:cNvCxnSpPr>
          <p:nvPr/>
        </p:nvCxnSpPr>
        <p:spPr>
          <a:xfrm flipV="1">
            <a:off x="7089274" y="3335979"/>
            <a:ext cx="1015582" cy="2593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330FE96-D30E-BD2E-F250-E5B13D152B4F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7096185" y="4054412"/>
            <a:ext cx="1008671" cy="1074426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37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821"/>
        </a:solidFill>
        <a:effectLst/>
      </p:bgPr>
    </p:bg>
    <p:spTree>
      <p:nvGrpSpPr>
        <p:cNvPr id="1" name="Shape 316">
          <a:extLst>
            <a:ext uri="{FF2B5EF4-FFF2-40B4-BE49-F238E27FC236}">
              <a16:creationId xmlns:a16="http://schemas.microsoft.com/office/drawing/2014/main" id="{3EF7409F-8A08-F1DA-34DD-B9E4233AB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19;p38">
            <a:extLst>
              <a:ext uri="{FF2B5EF4-FFF2-40B4-BE49-F238E27FC236}">
                <a16:creationId xmlns:a16="http://schemas.microsoft.com/office/drawing/2014/main" id="{D6CACA94-21D0-8171-18D2-D9481527E959}"/>
              </a:ext>
            </a:extLst>
          </p:cNvPr>
          <p:cNvSpPr/>
          <p:nvPr/>
        </p:nvSpPr>
        <p:spPr>
          <a:xfrm>
            <a:off x="1391555" y="2688525"/>
            <a:ext cx="2377440" cy="1299257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9FECF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" name="Google Shape;319;p38">
            <a:extLst>
              <a:ext uri="{FF2B5EF4-FFF2-40B4-BE49-F238E27FC236}">
                <a16:creationId xmlns:a16="http://schemas.microsoft.com/office/drawing/2014/main" id="{9C6F23AD-2424-4D16-13E4-0F5A09F5C759}"/>
              </a:ext>
            </a:extLst>
          </p:cNvPr>
          <p:cNvSpPr/>
          <p:nvPr/>
        </p:nvSpPr>
        <p:spPr>
          <a:xfrm>
            <a:off x="4711834" y="2149852"/>
            <a:ext cx="2377440" cy="2377440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CAE16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7" name="Google Shape;319;p38">
            <a:extLst>
              <a:ext uri="{FF2B5EF4-FFF2-40B4-BE49-F238E27FC236}">
                <a16:creationId xmlns:a16="http://schemas.microsoft.com/office/drawing/2014/main" id="{748CAB5E-53D1-399F-BE09-FFEAFF3F5633}"/>
              </a:ext>
            </a:extLst>
          </p:cNvPr>
          <p:cNvSpPr/>
          <p:nvPr/>
        </p:nvSpPr>
        <p:spPr>
          <a:xfrm>
            <a:off x="8104856" y="893491"/>
            <a:ext cx="2377440" cy="1299258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9FECF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rgbClr val="9FECF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86DEF3-8AB9-BD9C-CD4B-F4ABBE997637}"/>
              </a:ext>
            </a:extLst>
          </p:cNvPr>
          <p:cNvSpPr txBox="1"/>
          <p:nvPr/>
        </p:nvSpPr>
        <p:spPr>
          <a:xfrm>
            <a:off x="4751325" y="2395589"/>
            <a:ext cx="237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Postgres</a:t>
            </a:r>
          </a:p>
        </p:txBody>
      </p:sp>
      <p:sp>
        <p:nvSpPr>
          <p:cNvPr id="33" name="Google Shape;319;p38">
            <a:extLst>
              <a:ext uri="{FF2B5EF4-FFF2-40B4-BE49-F238E27FC236}">
                <a16:creationId xmlns:a16="http://schemas.microsoft.com/office/drawing/2014/main" id="{D8C862D9-5CA4-D067-3E1B-5F557B81AC4F}"/>
              </a:ext>
            </a:extLst>
          </p:cNvPr>
          <p:cNvSpPr/>
          <p:nvPr/>
        </p:nvSpPr>
        <p:spPr>
          <a:xfrm>
            <a:off x="5103399" y="2867161"/>
            <a:ext cx="1608132" cy="502625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Workflow Orchestration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4" name="Google Shape;319;p38">
            <a:extLst>
              <a:ext uri="{FF2B5EF4-FFF2-40B4-BE49-F238E27FC236}">
                <a16:creationId xmlns:a16="http://schemas.microsoft.com/office/drawing/2014/main" id="{C94D98B6-11F6-181D-56C0-EC5B6734031B}"/>
              </a:ext>
            </a:extLst>
          </p:cNvPr>
          <p:cNvSpPr/>
          <p:nvPr/>
        </p:nvSpPr>
        <p:spPr>
          <a:xfrm>
            <a:off x="5103399" y="3502944"/>
            <a:ext cx="1608132" cy="331050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Queues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5" name="Google Shape;319;p38">
            <a:extLst>
              <a:ext uri="{FF2B5EF4-FFF2-40B4-BE49-F238E27FC236}">
                <a16:creationId xmlns:a16="http://schemas.microsoft.com/office/drawing/2014/main" id="{0FE1F2C1-B3E3-4168-8F38-1CE65783F369}"/>
              </a:ext>
            </a:extLst>
          </p:cNvPr>
          <p:cNvSpPr/>
          <p:nvPr/>
        </p:nvSpPr>
        <p:spPr>
          <a:xfrm>
            <a:off x="5103399" y="3967151"/>
            <a:ext cx="1608132" cy="331050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Messaging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B8C11F4-D59E-DED4-D7C5-01A152446C20}"/>
              </a:ext>
            </a:extLst>
          </p:cNvPr>
          <p:cNvCxnSpPr>
            <a:cxnSpLocks/>
            <a:stCxn id="2" idx="1"/>
            <a:endCxn id="3" idx="3"/>
          </p:cNvCxnSpPr>
          <p:nvPr/>
        </p:nvCxnSpPr>
        <p:spPr>
          <a:xfrm flipH="1" flipV="1">
            <a:off x="3768995" y="3338154"/>
            <a:ext cx="942839" cy="418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E94C2B4-82E1-4568-FD0D-76D35FF7518F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7103096" y="1543120"/>
            <a:ext cx="1001760" cy="1260469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0D7621A-91AF-BFB4-F459-67A637A159E7}"/>
              </a:ext>
            </a:extLst>
          </p:cNvPr>
          <p:cNvSpPr txBox="1"/>
          <p:nvPr/>
        </p:nvSpPr>
        <p:spPr>
          <a:xfrm>
            <a:off x="8104855" y="985329"/>
            <a:ext cx="2377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Application Process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6CEC13-4269-01BB-5124-0EAB9CCC7BFF}"/>
              </a:ext>
            </a:extLst>
          </p:cNvPr>
          <p:cNvSpPr txBox="1"/>
          <p:nvPr/>
        </p:nvSpPr>
        <p:spPr>
          <a:xfrm>
            <a:off x="1361281" y="2803589"/>
            <a:ext cx="242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API Server</a:t>
            </a:r>
          </a:p>
        </p:txBody>
      </p:sp>
      <p:sp>
        <p:nvSpPr>
          <p:cNvPr id="29" name="Google Shape;319;p38">
            <a:extLst>
              <a:ext uri="{FF2B5EF4-FFF2-40B4-BE49-F238E27FC236}">
                <a16:creationId xmlns:a16="http://schemas.microsoft.com/office/drawing/2014/main" id="{EED33646-BDEE-8072-C269-F065EF276D61}"/>
              </a:ext>
            </a:extLst>
          </p:cNvPr>
          <p:cNvSpPr/>
          <p:nvPr/>
        </p:nvSpPr>
        <p:spPr>
          <a:xfrm>
            <a:off x="1769523" y="3261433"/>
            <a:ext cx="1608132" cy="551497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DBOS Client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0" name="Google Shape;319;p38">
            <a:extLst>
              <a:ext uri="{FF2B5EF4-FFF2-40B4-BE49-F238E27FC236}">
                <a16:creationId xmlns:a16="http://schemas.microsoft.com/office/drawing/2014/main" id="{69B810E8-8786-8903-FF83-8B5256A9A16A}"/>
              </a:ext>
            </a:extLst>
          </p:cNvPr>
          <p:cNvSpPr/>
          <p:nvPr/>
        </p:nvSpPr>
        <p:spPr>
          <a:xfrm>
            <a:off x="8449527" y="1521617"/>
            <a:ext cx="1688098" cy="502625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DBOS Library</a:t>
            </a:r>
          </a:p>
        </p:txBody>
      </p:sp>
      <p:sp>
        <p:nvSpPr>
          <p:cNvPr id="15" name="Google Shape;319;p38">
            <a:extLst>
              <a:ext uri="{FF2B5EF4-FFF2-40B4-BE49-F238E27FC236}">
                <a16:creationId xmlns:a16="http://schemas.microsoft.com/office/drawing/2014/main" id="{8D0183E9-3BF2-2F0A-1F08-14B98853D2D4}"/>
              </a:ext>
            </a:extLst>
          </p:cNvPr>
          <p:cNvSpPr/>
          <p:nvPr/>
        </p:nvSpPr>
        <p:spPr>
          <a:xfrm>
            <a:off x="8104856" y="2686350"/>
            <a:ext cx="2377440" cy="1299258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9FECF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61795A-C885-6744-8C5A-EF3502234F49}"/>
              </a:ext>
            </a:extLst>
          </p:cNvPr>
          <p:cNvSpPr txBox="1"/>
          <p:nvPr/>
        </p:nvSpPr>
        <p:spPr>
          <a:xfrm>
            <a:off x="8118678" y="2800276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Application Process</a:t>
            </a:r>
          </a:p>
        </p:txBody>
      </p:sp>
      <p:sp>
        <p:nvSpPr>
          <p:cNvPr id="18" name="Google Shape;319;p38">
            <a:extLst>
              <a:ext uri="{FF2B5EF4-FFF2-40B4-BE49-F238E27FC236}">
                <a16:creationId xmlns:a16="http://schemas.microsoft.com/office/drawing/2014/main" id="{1D065923-A0AB-1213-180E-D93B7948AA24}"/>
              </a:ext>
            </a:extLst>
          </p:cNvPr>
          <p:cNvSpPr/>
          <p:nvPr/>
        </p:nvSpPr>
        <p:spPr>
          <a:xfrm>
            <a:off x="8449527" y="3314476"/>
            <a:ext cx="1688098" cy="502625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DBOS Library</a:t>
            </a:r>
          </a:p>
        </p:txBody>
      </p:sp>
      <p:sp>
        <p:nvSpPr>
          <p:cNvPr id="21" name="Google Shape;319;p38">
            <a:extLst>
              <a:ext uri="{FF2B5EF4-FFF2-40B4-BE49-F238E27FC236}">
                <a16:creationId xmlns:a16="http://schemas.microsoft.com/office/drawing/2014/main" id="{0BE6E994-F1CB-9AF2-9134-106851F821EF}"/>
              </a:ext>
            </a:extLst>
          </p:cNvPr>
          <p:cNvSpPr/>
          <p:nvPr/>
        </p:nvSpPr>
        <p:spPr>
          <a:xfrm>
            <a:off x="8104856" y="4479209"/>
            <a:ext cx="2377440" cy="1299258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9FECF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016DC2-8F4B-B3FB-E98F-567C219BE929}"/>
              </a:ext>
            </a:extLst>
          </p:cNvPr>
          <p:cNvSpPr txBox="1"/>
          <p:nvPr/>
        </p:nvSpPr>
        <p:spPr>
          <a:xfrm>
            <a:off x="8111767" y="4571047"/>
            <a:ext cx="2370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Application Process</a:t>
            </a:r>
          </a:p>
        </p:txBody>
      </p:sp>
      <p:sp>
        <p:nvSpPr>
          <p:cNvPr id="25" name="Google Shape;319;p38">
            <a:extLst>
              <a:ext uri="{FF2B5EF4-FFF2-40B4-BE49-F238E27FC236}">
                <a16:creationId xmlns:a16="http://schemas.microsoft.com/office/drawing/2014/main" id="{F0B17A5F-71B2-9D13-8FB4-FA407466E093}"/>
              </a:ext>
            </a:extLst>
          </p:cNvPr>
          <p:cNvSpPr/>
          <p:nvPr/>
        </p:nvSpPr>
        <p:spPr>
          <a:xfrm>
            <a:off x="8449527" y="5107335"/>
            <a:ext cx="1688098" cy="502625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DBOS Library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A8A62B6-2D9B-701A-FD57-F6C9FE4AA2CD}"/>
              </a:ext>
            </a:extLst>
          </p:cNvPr>
          <p:cNvCxnSpPr>
            <a:cxnSpLocks/>
            <a:stCxn id="2" idx="3"/>
            <a:endCxn id="15" idx="1"/>
          </p:cNvCxnSpPr>
          <p:nvPr/>
        </p:nvCxnSpPr>
        <p:spPr>
          <a:xfrm flipV="1">
            <a:off x="7089274" y="3335979"/>
            <a:ext cx="1015582" cy="2593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330FE96-D30E-BD2E-F250-E5B13D152B4F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7096185" y="4054412"/>
            <a:ext cx="1008671" cy="1074426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2849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821"/>
        </a:solidFill>
        <a:effectLst/>
      </p:bgPr>
    </p:bg>
    <p:spTree>
      <p:nvGrpSpPr>
        <p:cNvPr id="1" name="Shape 316">
          <a:extLst>
            <a:ext uri="{FF2B5EF4-FFF2-40B4-BE49-F238E27FC236}">
              <a16:creationId xmlns:a16="http://schemas.microsoft.com/office/drawing/2014/main" id="{D4AAF609-1651-EF7A-DED3-A6BB7911A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19;p38">
            <a:extLst>
              <a:ext uri="{FF2B5EF4-FFF2-40B4-BE49-F238E27FC236}">
                <a16:creationId xmlns:a16="http://schemas.microsoft.com/office/drawing/2014/main" id="{6638E9D8-A99B-6740-0EEC-C0733E1AC37E}"/>
              </a:ext>
            </a:extLst>
          </p:cNvPr>
          <p:cNvSpPr/>
          <p:nvPr/>
        </p:nvSpPr>
        <p:spPr>
          <a:xfrm>
            <a:off x="9147524" y="2053405"/>
            <a:ext cx="2377440" cy="2377440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CAE16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1" name="Google Shape;319;p38">
            <a:extLst>
              <a:ext uri="{FF2B5EF4-FFF2-40B4-BE49-F238E27FC236}">
                <a16:creationId xmlns:a16="http://schemas.microsoft.com/office/drawing/2014/main" id="{4A89202A-2A68-7193-8C68-4AD6A3D36C62}"/>
              </a:ext>
            </a:extLst>
          </p:cNvPr>
          <p:cNvSpPr/>
          <p:nvPr/>
        </p:nvSpPr>
        <p:spPr>
          <a:xfrm>
            <a:off x="9050426" y="2169946"/>
            <a:ext cx="2377440" cy="2377440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CAE16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7" name="Google Shape;319;p38">
            <a:extLst>
              <a:ext uri="{FF2B5EF4-FFF2-40B4-BE49-F238E27FC236}">
                <a16:creationId xmlns:a16="http://schemas.microsoft.com/office/drawing/2014/main" id="{7CAF2534-022E-4104-10F0-AA38728D8644}"/>
              </a:ext>
            </a:extLst>
          </p:cNvPr>
          <p:cNvSpPr/>
          <p:nvPr/>
        </p:nvSpPr>
        <p:spPr>
          <a:xfrm>
            <a:off x="2587448" y="2053405"/>
            <a:ext cx="2377440" cy="2377440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9FECF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6" name="Google Shape;319;p38">
            <a:extLst>
              <a:ext uri="{FF2B5EF4-FFF2-40B4-BE49-F238E27FC236}">
                <a16:creationId xmlns:a16="http://schemas.microsoft.com/office/drawing/2014/main" id="{45D8D981-4315-9A86-8DCA-98ABA794EEAA}"/>
              </a:ext>
            </a:extLst>
          </p:cNvPr>
          <p:cNvSpPr/>
          <p:nvPr/>
        </p:nvSpPr>
        <p:spPr>
          <a:xfrm>
            <a:off x="2493998" y="2169946"/>
            <a:ext cx="2377440" cy="2377440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9FECF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" name="Google Shape;319;p38">
            <a:extLst>
              <a:ext uri="{FF2B5EF4-FFF2-40B4-BE49-F238E27FC236}">
                <a16:creationId xmlns:a16="http://schemas.microsoft.com/office/drawing/2014/main" id="{E9739AF7-54E5-F628-F095-5CF7BC1F3DCF}"/>
              </a:ext>
            </a:extLst>
          </p:cNvPr>
          <p:cNvSpPr/>
          <p:nvPr/>
        </p:nvSpPr>
        <p:spPr>
          <a:xfrm>
            <a:off x="2400547" y="2286487"/>
            <a:ext cx="2377440" cy="2377440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9FECF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" name="Google Shape;319;p38">
            <a:extLst>
              <a:ext uri="{FF2B5EF4-FFF2-40B4-BE49-F238E27FC236}">
                <a16:creationId xmlns:a16="http://schemas.microsoft.com/office/drawing/2014/main" id="{F55FE01D-6AFF-8FDA-1446-B3491C1CF9C2}"/>
              </a:ext>
            </a:extLst>
          </p:cNvPr>
          <p:cNvSpPr/>
          <p:nvPr/>
        </p:nvSpPr>
        <p:spPr>
          <a:xfrm>
            <a:off x="5720827" y="2286487"/>
            <a:ext cx="2377440" cy="2377440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CAE16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7" name="Google Shape;319;p38">
            <a:extLst>
              <a:ext uri="{FF2B5EF4-FFF2-40B4-BE49-F238E27FC236}">
                <a16:creationId xmlns:a16="http://schemas.microsoft.com/office/drawing/2014/main" id="{3C933620-998B-7968-8270-7A76E22D807D}"/>
              </a:ext>
            </a:extLst>
          </p:cNvPr>
          <p:cNvSpPr/>
          <p:nvPr/>
        </p:nvSpPr>
        <p:spPr>
          <a:xfrm>
            <a:off x="8952600" y="2286487"/>
            <a:ext cx="2377440" cy="2377440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CAE16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80CF42-AEC5-8292-E7CA-65F8E2F4434A}"/>
              </a:ext>
            </a:extLst>
          </p:cNvPr>
          <p:cNvSpPr txBox="1"/>
          <p:nvPr/>
        </p:nvSpPr>
        <p:spPr>
          <a:xfrm>
            <a:off x="5760318" y="2532224"/>
            <a:ext cx="237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Orchestrator Server</a:t>
            </a:r>
          </a:p>
        </p:txBody>
      </p:sp>
      <p:sp>
        <p:nvSpPr>
          <p:cNvPr id="33" name="Google Shape;319;p38">
            <a:extLst>
              <a:ext uri="{FF2B5EF4-FFF2-40B4-BE49-F238E27FC236}">
                <a16:creationId xmlns:a16="http://schemas.microsoft.com/office/drawing/2014/main" id="{14630722-DD85-B540-B3A4-22BA314E03B9}"/>
              </a:ext>
            </a:extLst>
          </p:cNvPr>
          <p:cNvSpPr/>
          <p:nvPr/>
        </p:nvSpPr>
        <p:spPr>
          <a:xfrm>
            <a:off x="6112392" y="3003796"/>
            <a:ext cx="1608132" cy="502625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Workflow Orchestration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4" name="Google Shape;319;p38">
            <a:extLst>
              <a:ext uri="{FF2B5EF4-FFF2-40B4-BE49-F238E27FC236}">
                <a16:creationId xmlns:a16="http://schemas.microsoft.com/office/drawing/2014/main" id="{BB557A1B-C6ED-A1ED-5F72-A8DDB5F87B9A}"/>
              </a:ext>
            </a:extLst>
          </p:cNvPr>
          <p:cNvSpPr/>
          <p:nvPr/>
        </p:nvSpPr>
        <p:spPr>
          <a:xfrm>
            <a:off x="6112392" y="3639579"/>
            <a:ext cx="1608132" cy="331050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Queues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5" name="Google Shape;319;p38">
            <a:extLst>
              <a:ext uri="{FF2B5EF4-FFF2-40B4-BE49-F238E27FC236}">
                <a16:creationId xmlns:a16="http://schemas.microsoft.com/office/drawing/2014/main" id="{FCD24E24-FC92-1F22-BE72-CCD3A671D986}"/>
              </a:ext>
            </a:extLst>
          </p:cNvPr>
          <p:cNvSpPr/>
          <p:nvPr/>
        </p:nvSpPr>
        <p:spPr>
          <a:xfrm>
            <a:off x="6112392" y="4103786"/>
            <a:ext cx="1608132" cy="331050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Messaging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7342B6F-D1E5-E963-1056-479DE8B595BD}"/>
              </a:ext>
            </a:extLst>
          </p:cNvPr>
          <p:cNvCxnSpPr>
            <a:cxnSpLocks/>
            <a:stCxn id="2" idx="1"/>
          </p:cNvCxnSpPr>
          <p:nvPr/>
        </p:nvCxnSpPr>
        <p:spPr>
          <a:xfrm flipH="1" flipV="1">
            <a:off x="4964888" y="3470040"/>
            <a:ext cx="755939" cy="5167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41BCA8D-6ED6-A2CA-BD86-866FAA68C584}"/>
              </a:ext>
            </a:extLst>
          </p:cNvPr>
          <p:cNvCxnSpPr>
            <a:cxnSpLocks/>
            <a:stCxn id="2" idx="3"/>
            <a:endCxn id="7" idx="1"/>
          </p:cNvCxnSpPr>
          <p:nvPr/>
        </p:nvCxnSpPr>
        <p:spPr>
          <a:xfrm>
            <a:off x="8098267" y="3475207"/>
            <a:ext cx="854333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Google Shape;319;p38">
            <a:extLst>
              <a:ext uri="{FF2B5EF4-FFF2-40B4-BE49-F238E27FC236}">
                <a16:creationId xmlns:a16="http://schemas.microsoft.com/office/drawing/2014/main" id="{398D4887-DCA8-A32E-9746-DA2CD49D7B43}"/>
              </a:ext>
            </a:extLst>
          </p:cNvPr>
          <p:cNvSpPr/>
          <p:nvPr/>
        </p:nvSpPr>
        <p:spPr>
          <a:xfrm>
            <a:off x="5690655" y="476428"/>
            <a:ext cx="2377440" cy="1299257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CAE16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Admin UI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9505C74-FA17-9991-998A-E1C3DDE5EB11}"/>
              </a:ext>
            </a:extLst>
          </p:cNvPr>
          <p:cNvCxnSpPr>
            <a:cxnSpLocks/>
          </p:cNvCxnSpPr>
          <p:nvPr/>
        </p:nvCxnSpPr>
        <p:spPr>
          <a:xfrm>
            <a:off x="6879375" y="1768327"/>
            <a:ext cx="0" cy="51816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Google Shape;319;p38">
            <a:extLst>
              <a:ext uri="{FF2B5EF4-FFF2-40B4-BE49-F238E27FC236}">
                <a16:creationId xmlns:a16="http://schemas.microsoft.com/office/drawing/2014/main" id="{3E2E7510-3B44-AA5B-E2D4-2F10B5E2337C}"/>
              </a:ext>
            </a:extLst>
          </p:cNvPr>
          <p:cNvSpPr/>
          <p:nvPr/>
        </p:nvSpPr>
        <p:spPr>
          <a:xfrm>
            <a:off x="5957519" y="5190075"/>
            <a:ext cx="2029968" cy="1299257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CAE16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F26684-5B9C-EBD9-2115-4B434AF3506A}"/>
              </a:ext>
            </a:extLst>
          </p:cNvPr>
          <p:cNvSpPr txBox="1"/>
          <p:nvPr/>
        </p:nvSpPr>
        <p:spPr>
          <a:xfrm>
            <a:off x="5957519" y="5655037"/>
            <a:ext cx="1963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Data Store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106882-A465-B13B-3916-D860558D54E5}"/>
              </a:ext>
            </a:extLst>
          </p:cNvPr>
          <p:cNvCxnSpPr>
            <a:cxnSpLocks/>
          </p:cNvCxnSpPr>
          <p:nvPr/>
        </p:nvCxnSpPr>
        <p:spPr>
          <a:xfrm>
            <a:off x="6949036" y="4663927"/>
            <a:ext cx="0" cy="49571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2B87037-7CE2-FA27-A0DA-A55990C783B3}"/>
              </a:ext>
            </a:extLst>
          </p:cNvPr>
          <p:cNvSpPr txBox="1"/>
          <p:nvPr/>
        </p:nvSpPr>
        <p:spPr>
          <a:xfrm>
            <a:off x="9147524" y="3095634"/>
            <a:ext cx="1989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Worker 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Servers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71C40F-54E4-9FDB-CE9E-AE0992AB6EA9}"/>
              </a:ext>
            </a:extLst>
          </p:cNvPr>
          <p:cNvSpPr txBox="1"/>
          <p:nvPr/>
        </p:nvSpPr>
        <p:spPr>
          <a:xfrm>
            <a:off x="2370273" y="3257487"/>
            <a:ext cx="242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Clients</a:t>
            </a:r>
          </a:p>
        </p:txBody>
      </p:sp>
      <p:sp>
        <p:nvSpPr>
          <p:cNvPr id="29" name="Google Shape;319;p38">
            <a:extLst>
              <a:ext uri="{FF2B5EF4-FFF2-40B4-BE49-F238E27FC236}">
                <a16:creationId xmlns:a16="http://schemas.microsoft.com/office/drawing/2014/main" id="{7135A0B3-2793-5FA5-4882-5B8F57DA755F}"/>
              </a:ext>
            </a:extLst>
          </p:cNvPr>
          <p:cNvSpPr/>
          <p:nvPr/>
        </p:nvSpPr>
        <p:spPr>
          <a:xfrm>
            <a:off x="2778515" y="3968260"/>
            <a:ext cx="1608132" cy="502625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Orchestrator Client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0" name="Google Shape;319;p38">
            <a:extLst>
              <a:ext uri="{FF2B5EF4-FFF2-40B4-BE49-F238E27FC236}">
                <a16:creationId xmlns:a16="http://schemas.microsoft.com/office/drawing/2014/main" id="{BFE5FC97-0C1E-090D-BF06-069F337A8AE8}"/>
              </a:ext>
            </a:extLst>
          </p:cNvPr>
          <p:cNvSpPr/>
          <p:nvPr/>
        </p:nvSpPr>
        <p:spPr>
          <a:xfrm>
            <a:off x="9337253" y="3997366"/>
            <a:ext cx="1608132" cy="502625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Orchestrator</a:t>
            </a:r>
          </a:p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SDK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456554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821"/>
        </a:solidFill>
        <a:effectLst/>
      </p:bgPr>
    </p:bg>
    <p:spTree>
      <p:nvGrpSpPr>
        <p:cNvPr id="1" name="Shape 316">
          <a:extLst>
            <a:ext uri="{FF2B5EF4-FFF2-40B4-BE49-F238E27FC236}">
              <a16:creationId xmlns:a16="http://schemas.microsoft.com/office/drawing/2014/main" id="{70BC36A6-C027-C4FA-E6DE-B5281BD20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19;p38">
            <a:extLst>
              <a:ext uri="{FF2B5EF4-FFF2-40B4-BE49-F238E27FC236}">
                <a16:creationId xmlns:a16="http://schemas.microsoft.com/office/drawing/2014/main" id="{5724BEF3-B907-48B0-8863-71FEF3313779}"/>
              </a:ext>
            </a:extLst>
          </p:cNvPr>
          <p:cNvSpPr/>
          <p:nvPr/>
        </p:nvSpPr>
        <p:spPr>
          <a:xfrm>
            <a:off x="9147524" y="2053405"/>
            <a:ext cx="2377440" cy="2377440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CAE16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1" name="Google Shape;319;p38">
            <a:extLst>
              <a:ext uri="{FF2B5EF4-FFF2-40B4-BE49-F238E27FC236}">
                <a16:creationId xmlns:a16="http://schemas.microsoft.com/office/drawing/2014/main" id="{B2266F2D-FAD9-5C5A-2C81-947013D6F2EB}"/>
              </a:ext>
            </a:extLst>
          </p:cNvPr>
          <p:cNvSpPr/>
          <p:nvPr/>
        </p:nvSpPr>
        <p:spPr>
          <a:xfrm>
            <a:off x="9050426" y="2169946"/>
            <a:ext cx="2377440" cy="2377440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CAE16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7" name="Google Shape;319;p38">
            <a:extLst>
              <a:ext uri="{FF2B5EF4-FFF2-40B4-BE49-F238E27FC236}">
                <a16:creationId xmlns:a16="http://schemas.microsoft.com/office/drawing/2014/main" id="{C30D080E-8B4B-7FB5-30E2-144C191D8815}"/>
              </a:ext>
            </a:extLst>
          </p:cNvPr>
          <p:cNvSpPr/>
          <p:nvPr/>
        </p:nvSpPr>
        <p:spPr>
          <a:xfrm>
            <a:off x="2587448" y="2053405"/>
            <a:ext cx="2377440" cy="2377440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9FECF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6" name="Google Shape;319;p38">
            <a:extLst>
              <a:ext uri="{FF2B5EF4-FFF2-40B4-BE49-F238E27FC236}">
                <a16:creationId xmlns:a16="http://schemas.microsoft.com/office/drawing/2014/main" id="{9048001A-075B-3C4F-765C-1F16DF3CCB40}"/>
              </a:ext>
            </a:extLst>
          </p:cNvPr>
          <p:cNvSpPr/>
          <p:nvPr/>
        </p:nvSpPr>
        <p:spPr>
          <a:xfrm>
            <a:off x="2493998" y="2169946"/>
            <a:ext cx="2377440" cy="2377440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9FECF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" name="Google Shape;319;p38">
            <a:extLst>
              <a:ext uri="{FF2B5EF4-FFF2-40B4-BE49-F238E27FC236}">
                <a16:creationId xmlns:a16="http://schemas.microsoft.com/office/drawing/2014/main" id="{EEAC33B5-6F7B-CAF7-699B-3DC0C37BC7B5}"/>
              </a:ext>
            </a:extLst>
          </p:cNvPr>
          <p:cNvSpPr/>
          <p:nvPr/>
        </p:nvSpPr>
        <p:spPr>
          <a:xfrm>
            <a:off x="2400547" y="2286487"/>
            <a:ext cx="2377440" cy="2377440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9FECF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7" name="Google Shape;319;p38">
            <a:extLst>
              <a:ext uri="{FF2B5EF4-FFF2-40B4-BE49-F238E27FC236}">
                <a16:creationId xmlns:a16="http://schemas.microsoft.com/office/drawing/2014/main" id="{26123DA2-814C-2055-37F5-1BA98DC2C868}"/>
              </a:ext>
            </a:extLst>
          </p:cNvPr>
          <p:cNvSpPr/>
          <p:nvPr/>
        </p:nvSpPr>
        <p:spPr>
          <a:xfrm>
            <a:off x="8952600" y="2286487"/>
            <a:ext cx="2377440" cy="2377440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CAE16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0A7278-59C9-8785-C7D3-8311B4059F72}"/>
              </a:ext>
            </a:extLst>
          </p:cNvPr>
          <p:cNvSpPr txBox="1"/>
          <p:nvPr/>
        </p:nvSpPr>
        <p:spPr>
          <a:xfrm>
            <a:off x="2370273" y="3257487"/>
            <a:ext cx="242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Clients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85C82A8-92FF-6F6B-2C09-BB425B7147E8}"/>
              </a:ext>
            </a:extLst>
          </p:cNvPr>
          <p:cNvCxnSpPr>
            <a:cxnSpLocks/>
          </p:cNvCxnSpPr>
          <p:nvPr/>
        </p:nvCxnSpPr>
        <p:spPr>
          <a:xfrm flipH="1">
            <a:off x="4964888" y="3475207"/>
            <a:ext cx="755939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4813DBC-3ECE-2CCC-1C3D-1C0878A40117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8098267" y="3475207"/>
            <a:ext cx="854333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Google Shape;319;p38">
            <a:extLst>
              <a:ext uri="{FF2B5EF4-FFF2-40B4-BE49-F238E27FC236}">
                <a16:creationId xmlns:a16="http://schemas.microsoft.com/office/drawing/2014/main" id="{FC4EE812-6463-B595-4E57-EC3B6C9AEE44}"/>
              </a:ext>
            </a:extLst>
          </p:cNvPr>
          <p:cNvSpPr/>
          <p:nvPr/>
        </p:nvSpPr>
        <p:spPr>
          <a:xfrm>
            <a:off x="2778515" y="3968260"/>
            <a:ext cx="1608132" cy="502625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Postgres </a:t>
            </a:r>
          </a:p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Client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0" name="Google Shape;319;p38">
            <a:extLst>
              <a:ext uri="{FF2B5EF4-FFF2-40B4-BE49-F238E27FC236}">
                <a16:creationId xmlns:a16="http://schemas.microsoft.com/office/drawing/2014/main" id="{691D8FAE-B1FD-3960-5384-0B390CEE2610}"/>
              </a:ext>
            </a:extLst>
          </p:cNvPr>
          <p:cNvSpPr/>
          <p:nvPr/>
        </p:nvSpPr>
        <p:spPr>
          <a:xfrm>
            <a:off x="5720827" y="2286487"/>
            <a:ext cx="2377440" cy="2377440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CAE16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73922C-61B2-4C73-B3FD-816A592600A3}"/>
              </a:ext>
            </a:extLst>
          </p:cNvPr>
          <p:cNvSpPr txBox="1"/>
          <p:nvPr/>
        </p:nvSpPr>
        <p:spPr>
          <a:xfrm>
            <a:off x="5760318" y="2532224"/>
            <a:ext cx="237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Postgres</a:t>
            </a:r>
          </a:p>
        </p:txBody>
      </p:sp>
      <p:sp>
        <p:nvSpPr>
          <p:cNvPr id="22" name="Google Shape;319;p38">
            <a:extLst>
              <a:ext uri="{FF2B5EF4-FFF2-40B4-BE49-F238E27FC236}">
                <a16:creationId xmlns:a16="http://schemas.microsoft.com/office/drawing/2014/main" id="{4401527F-9822-3064-E404-68B5C71164BD}"/>
              </a:ext>
            </a:extLst>
          </p:cNvPr>
          <p:cNvSpPr/>
          <p:nvPr/>
        </p:nvSpPr>
        <p:spPr>
          <a:xfrm>
            <a:off x="6112392" y="3003796"/>
            <a:ext cx="1608132" cy="502625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Workflow Orchestration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3" name="Google Shape;319;p38">
            <a:extLst>
              <a:ext uri="{FF2B5EF4-FFF2-40B4-BE49-F238E27FC236}">
                <a16:creationId xmlns:a16="http://schemas.microsoft.com/office/drawing/2014/main" id="{462642F3-BB49-C967-F182-5297C860573C}"/>
              </a:ext>
            </a:extLst>
          </p:cNvPr>
          <p:cNvSpPr/>
          <p:nvPr/>
        </p:nvSpPr>
        <p:spPr>
          <a:xfrm>
            <a:off x="6112392" y="3639579"/>
            <a:ext cx="1608132" cy="331050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Queues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4" name="Google Shape;319;p38">
            <a:extLst>
              <a:ext uri="{FF2B5EF4-FFF2-40B4-BE49-F238E27FC236}">
                <a16:creationId xmlns:a16="http://schemas.microsoft.com/office/drawing/2014/main" id="{8D4CED83-7581-A448-B19C-F40C66D43779}"/>
              </a:ext>
            </a:extLst>
          </p:cNvPr>
          <p:cNvSpPr/>
          <p:nvPr/>
        </p:nvSpPr>
        <p:spPr>
          <a:xfrm>
            <a:off x="6112392" y="4103786"/>
            <a:ext cx="1608132" cy="331050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Messaging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6" name="Google Shape;319;p38">
            <a:extLst>
              <a:ext uri="{FF2B5EF4-FFF2-40B4-BE49-F238E27FC236}">
                <a16:creationId xmlns:a16="http://schemas.microsoft.com/office/drawing/2014/main" id="{B5DD9920-05C6-4179-B79B-BBE22AA2C91F}"/>
              </a:ext>
            </a:extLst>
          </p:cNvPr>
          <p:cNvSpPr/>
          <p:nvPr/>
        </p:nvSpPr>
        <p:spPr>
          <a:xfrm>
            <a:off x="5690655" y="476428"/>
            <a:ext cx="2377440" cy="1299257"/>
          </a:xfrm>
          <a:prstGeom prst="roundRect">
            <a:avLst>
              <a:gd name="adj" fmla="val 16667"/>
            </a:avLst>
          </a:prstGeom>
          <a:solidFill>
            <a:srgbClr val="1C2726"/>
          </a:solidFill>
          <a:ln w="28575" cap="flat" cmpd="sng">
            <a:solidFill>
              <a:srgbClr val="CAE16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Admin UI</a:t>
            </a:r>
            <a:endParaRPr sz="2000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34329AD-9D4E-ADFC-1784-58D17C3335D8}"/>
              </a:ext>
            </a:extLst>
          </p:cNvPr>
          <p:cNvCxnSpPr>
            <a:cxnSpLocks/>
          </p:cNvCxnSpPr>
          <p:nvPr/>
        </p:nvCxnSpPr>
        <p:spPr>
          <a:xfrm>
            <a:off x="6879375" y="1768327"/>
            <a:ext cx="0" cy="51816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E169C1B-3D8B-1D19-4902-C9915C85D042}"/>
              </a:ext>
            </a:extLst>
          </p:cNvPr>
          <p:cNvSpPr txBox="1"/>
          <p:nvPr/>
        </p:nvSpPr>
        <p:spPr>
          <a:xfrm>
            <a:off x="9147524" y="3095634"/>
            <a:ext cx="1989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Application Servers</a:t>
            </a:r>
          </a:p>
        </p:txBody>
      </p:sp>
      <p:sp>
        <p:nvSpPr>
          <p:cNvPr id="11" name="Google Shape;319;p38">
            <a:extLst>
              <a:ext uri="{FF2B5EF4-FFF2-40B4-BE49-F238E27FC236}">
                <a16:creationId xmlns:a16="http://schemas.microsoft.com/office/drawing/2014/main" id="{5F1161BD-5999-44D3-F801-C5353B638671}"/>
              </a:ext>
            </a:extLst>
          </p:cNvPr>
          <p:cNvSpPr/>
          <p:nvPr/>
        </p:nvSpPr>
        <p:spPr>
          <a:xfrm>
            <a:off x="9146795" y="3968260"/>
            <a:ext cx="1989049" cy="502625"/>
          </a:xfrm>
          <a:prstGeom prst="roundRect">
            <a:avLst>
              <a:gd name="adj" fmla="val 16667"/>
            </a:avLst>
          </a:prstGeom>
          <a:solidFill>
            <a:srgbClr val="DEF875"/>
          </a:solidFill>
          <a:ln w="28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Postgres-Backed</a:t>
            </a:r>
          </a:p>
          <a:p>
            <a:pPr algn="ctr"/>
            <a:r>
              <a:rPr lang="en-US" sz="1600" dirty="0">
                <a:latin typeface="Helvetica" panose="020B0604020202020204"/>
                <a:cs typeface="Helvetica" panose="020B0604020202020204"/>
              </a:rPr>
              <a:t>Library</a:t>
            </a:r>
            <a:endParaRPr sz="1600" dirty="0">
              <a:latin typeface="Helvetica" panose="020B0604020202020204"/>
              <a:cs typeface="Helvetica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473991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28D4BC7-0E3D-40AD-8EB9-60DA72A96261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32ccd198-fb11-4000-9fc4-6515e21ec82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1189</TotalTime>
  <Words>221</Words>
  <Application>Microsoft Office PowerPoint</Application>
  <PresentationFormat>Widescreen</PresentationFormat>
  <Paragraphs>120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Kraft</dc:creator>
  <cp:lastModifiedBy>Peter Kraft</cp:lastModifiedBy>
  <cp:revision>270</cp:revision>
  <dcterms:created xsi:type="dcterms:W3CDTF">2025-04-22T22:18:12Z</dcterms:created>
  <dcterms:modified xsi:type="dcterms:W3CDTF">2026-05-15T00:41:13Z</dcterms:modified>
</cp:coreProperties>
</file>